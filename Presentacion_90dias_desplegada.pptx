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Vengo a pedirles algo concreto: 90 días.
Noventa días para que nuestro equipo resuelva en días lo que hoy le toma semanas.
En los próximos cinco minutos quiero que decidan si vale la pena.
Tiempo objetivo: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le hacemos una pregunta a la IA, parece magia. No lo es.
Detrás hay una máquina de siete pisos: el modelo, el chip, la fábrica, la máquina que fabrica las máquinas, la memoria, el centro de datos y, abajo de todo, la energía, el cobre, el agua y las personas.
Les doy un ejemplo: las máquinas que imprimen los chips más avanzados las fabrica una sola empresa, en los Países Bajos.
Una simple pregunta activa toda esta cadena en segundos.
Tiempo objetivo: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esta máquina se está construyendo ahora mismo.
Las tres grandes tecnológicas invierten este año unos 785 mil millones de dólares.
La IA ya pesa en la economía de EE. UU. más que lo que pesó el boom de internet.
Y casi todos los chips avanzados salen de una sola isla.
Hay frenos: energía, memoria, materiales y personas. Pero esos frenos ponen precio, no detienen la obra.
Tiempo objetivo: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una historia. Nokia.
Líder mundial de teléfonos móviles. Tenía marca, dinero y talento.
Perdió el liderazgo y, en 2013, vendió su negocio de móviles.
¿Le faltó tamaño? No. Le faltó adaptarse a tiempo.
(pausa corta)
Eso es lo que nos puede pasar si esperamos.
Tiempo objetivo: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Imaginen a dos ingenieros de TI. Les dan el mismo problema: ordenar un inventario y procesar muchísimos datos. Es un escenario para ilustrar.
El ingeniero A casi no usa la IA: la aprovecha al 10 %. Tarda de dos a tres semanas.
El ingeniero B la usa con método: la aprovecha al 80 %. Resuelve en cinco a diez días.
Mismo problema. Mismo talento. Cambia el método.
(pausa de 3 segundos mirando al comité)
Entonces, la pregunta es: ¿cuál queremos que sea nuestro equipo?
Tiempo objetivo: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les pido cambiar todo. Les pido 90 días, en tres pasos simples.
Primero, medir y aprender: anotamos cuánto tardamos hoy y acordamos reglas para usar la IA con cuidado.
Segundo, practicar con trabajo real: usamos la IA en tareas de verdad, siempre con una persona que revisa.
Tercero, comparar y decidir: miramos el antes y el después en tiempo, calidad y errores.
Si los números lo respaldan, ampliamos. Si no, lo detenemos. Esperamos menos tiempo en tareas repetitivas, mejor calidad, menos errores y un equipo con más confianza.
Tiempo objetivo: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petición es concreta: autoricen hoy el piloto de 90 días.
Nuestra meta es bajar al menos 30 % el tiempo en tareas repetitivas, sin perder calidad. En el día 90 decidimos juntos, con datos.
El riesgo es pequeño y la salida está clara.
(pausa)
La IA llegó para quedarse. Elijamos aprender. Gracias.
Tiempo objetivo: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1097280"/>
            <a:ext cx="8046720" cy="2194560"/>
          </a:xfrm>
          <a:prstGeom prst="rect">
            <a:avLst/>
          </a:prstGeom>
          <a:noFill/>
          <a:ln/>
        </p:spPr>
        <p:txBody>
          <a:bodyPr wrap="square" lIns="0" tIns="0" rIns="0" bIns="0" rtlCol="0" anchor="ctr"/>
          <a:lstStyle/>
          <a:p>
            <a:pPr indent="0" marL="0">
              <a:buNone/>
            </a:pPr>
            <a:r>
              <a:rPr lang="en-US" sz="3600" b="1" dirty="0">
                <a:solidFill>
                  <a:srgbClr val="F4EFE4"/>
                </a:solidFill>
                <a:latin typeface="Arial" pitchFamily="34" charset="0"/>
                <a:ea typeface="Arial" pitchFamily="34" charset="-122"/>
                <a:cs typeface="Arial" pitchFamily="34" charset="-120"/>
              </a:rPr>
              <a:t>90 días para que nuestro equipo resuelva en días lo que hoy toma semanas.</a:t>
            </a:r>
            <a:endParaRPr lang="en-US" sz="3600" dirty="0"/>
          </a:p>
        </p:txBody>
      </p:sp>
      <p:sp>
        <p:nvSpPr>
          <p:cNvPr id="4" name="Text 1"/>
          <p:cNvSpPr txBox="1"/>
          <p:nvPr/>
        </p:nvSpPr>
        <p:spPr>
          <a:xfrm>
            <a:off x="548640" y="3474720"/>
            <a:ext cx="8046720" cy="457200"/>
          </a:xfrm>
          <a:prstGeom prst="rect">
            <a:avLst/>
          </a:prstGeom>
          <a:noFill/>
          <a:ln/>
        </p:spPr>
        <p:txBody>
          <a:bodyPr wrap="square" lIns="0" tIns="0" rIns="0" bIns="0" rtlCol="0" anchor="t"/>
          <a:lstStyle/>
          <a:p>
            <a:pPr indent="0" marL="0">
              <a:buNone/>
            </a:pPr>
            <a:r>
              <a:rPr lang="en-US" sz="1800" dirty="0">
                <a:solidFill>
                  <a:srgbClr val="A79F8D"/>
                </a:solidFill>
                <a:latin typeface="Arial" pitchFamily="34" charset="0"/>
                <a:ea typeface="Arial" pitchFamily="34" charset="-122"/>
                <a:cs typeface="Arial" pitchFamily="34" charset="-120"/>
              </a:rPr>
              <a:t>Aprobemos el piloto de adopción de 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777240"/>
          </a:xfrm>
          <a:prstGeom prst="rect">
            <a:avLst/>
          </a:prstGeom>
          <a:noFill/>
          <a:ln/>
        </p:spPr>
        <p:txBody>
          <a:bodyPr wrap="square" lIns="0" tIns="0" rIns="0" bIns="0" rtlCol="0" anchor="t"/>
          <a:lstStyle/>
          <a:p>
            <a:pPr indent="0" marL="0">
              <a:buNone/>
            </a:pPr>
            <a:r>
              <a:rPr lang="en-US" sz="2400" b="1" dirty="0">
                <a:solidFill>
                  <a:srgbClr val="F4EFE4"/>
                </a:solidFill>
                <a:latin typeface="Arial" pitchFamily="34" charset="0"/>
                <a:ea typeface="Arial" pitchFamily="34" charset="-122"/>
                <a:cs typeface="Arial" pitchFamily="34" charset="-120"/>
              </a:rPr>
              <a:t>Cada respuesta de IA se sostiene sobre una máquina de 7 pisos.</a:t>
            </a:r>
            <a:endParaRPr lang="en-US" sz="2400" dirty="0"/>
          </a:p>
        </p:txBody>
      </p:sp>
      <p:sp>
        <p:nvSpPr>
          <p:cNvPr id="4" name="Shape 1"/>
          <p:cNvSpPr/>
          <p:nvPr/>
        </p:nvSpPr>
        <p:spPr>
          <a:xfrm>
            <a:off x="548640" y="1261872"/>
            <a:ext cx="8046720" cy="457200"/>
          </a:xfrm>
          <a:prstGeom prst="rect">
            <a:avLst/>
          </a:prstGeom>
          <a:solidFill>
            <a:srgbClr val="2E2B24"/>
          </a:solidFill>
          <a:ln w="12700">
            <a:solidFill>
              <a:srgbClr val="2E2B24"/>
            </a:solidFill>
            <a:prstDash val="solid"/>
          </a:ln>
        </p:spPr>
      </p:sp>
      <p:sp>
        <p:nvSpPr>
          <p:cNvPr id="5" name="Shape 2"/>
          <p:cNvSpPr/>
          <p:nvPr/>
        </p:nvSpPr>
        <p:spPr>
          <a:xfrm>
            <a:off x="548640" y="1261872"/>
            <a:ext cx="73152" cy="457200"/>
          </a:xfrm>
          <a:prstGeom prst="rect">
            <a:avLst/>
          </a:prstGeom>
          <a:solidFill>
            <a:srgbClr val="F2A33A"/>
          </a:solidFill>
          <a:ln w="12700">
            <a:solidFill>
              <a:srgbClr val="F2A33A"/>
            </a:solidFill>
            <a:prstDash val="solid"/>
          </a:ln>
        </p:spPr>
      </p:sp>
      <p:sp>
        <p:nvSpPr>
          <p:cNvPr id="6" name="Text 3"/>
          <p:cNvSpPr txBox="1"/>
          <p:nvPr/>
        </p:nvSpPr>
        <p:spPr>
          <a:xfrm>
            <a:off x="777240" y="1261872"/>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1 · Modelo</a:t>
            </a:r>
            <a:endParaRPr lang="en-US" sz="1100" dirty="0"/>
          </a:p>
        </p:txBody>
      </p:sp>
      <p:sp>
        <p:nvSpPr>
          <p:cNvPr id="7" name="Text 4"/>
          <p:cNvSpPr txBox="1"/>
          <p:nvPr/>
        </p:nvSpPr>
        <p:spPr>
          <a:xfrm>
            <a:off x="3611880" y="1261872"/>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Miles de millones de parámetros entrenados con enormes volúmenes de datos. Cada respuesta es un cálculo masivo.</a:t>
            </a:r>
            <a:endParaRPr lang="en-US" sz="1000" dirty="0"/>
          </a:p>
        </p:txBody>
      </p:sp>
      <p:sp>
        <p:nvSpPr>
          <p:cNvPr id="8" name="Shape 5"/>
          <p:cNvSpPr/>
          <p:nvPr/>
        </p:nvSpPr>
        <p:spPr>
          <a:xfrm>
            <a:off x="548640" y="1773936"/>
            <a:ext cx="8046720" cy="457200"/>
          </a:xfrm>
          <a:prstGeom prst="rect">
            <a:avLst/>
          </a:prstGeom>
          <a:solidFill>
            <a:srgbClr val="26241F"/>
          </a:solidFill>
          <a:ln w="12700">
            <a:solidFill>
              <a:srgbClr val="26241F"/>
            </a:solidFill>
            <a:prstDash val="solid"/>
          </a:ln>
        </p:spPr>
      </p:sp>
      <p:sp>
        <p:nvSpPr>
          <p:cNvPr id="9" name="Shape 6"/>
          <p:cNvSpPr/>
          <p:nvPr/>
        </p:nvSpPr>
        <p:spPr>
          <a:xfrm>
            <a:off x="548640" y="1773936"/>
            <a:ext cx="73152" cy="457200"/>
          </a:xfrm>
          <a:prstGeom prst="rect">
            <a:avLst/>
          </a:prstGeom>
          <a:solidFill>
            <a:srgbClr val="F2A33A"/>
          </a:solidFill>
          <a:ln w="12700">
            <a:solidFill>
              <a:srgbClr val="F2A33A"/>
            </a:solidFill>
            <a:prstDash val="solid"/>
          </a:ln>
        </p:spPr>
      </p:sp>
      <p:sp>
        <p:nvSpPr>
          <p:cNvPr id="10" name="Text 7"/>
          <p:cNvSpPr txBox="1"/>
          <p:nvPr/>
        </p:nvSpPr>
        <p:spPr>
          <a:xfrm>
            <a:off x="777240" y="1773936"/>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2 · Chip</a:t>
            </a:r>
            <a:endParaRPr lang="en-US" sz="1100" dirty="0"/>
          </a:p>
        </p:txBody>
      </p:sp>
      <p:sp>
        <p:nvSpPr>
          <p:cNvPr id="11" name="Text 8"/>
          <p:cNvSpPr txBox="1"/>
          <p:nvPr/>
        </p:nvSpPr>
        <p:spPr>
          <a:xfrm>
            <a:off x="3611880" y="1773936"/>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Procesadores especializados (GPU y aceleradores) que ejecutan millones de operaciones en paralelo.</a:t>
            </a:r>
            <a:endParaRPr lang="en-US" sz="1000" dirty="0"/>
          </a:p>
        </p:txBody>
      </p:sp>
      <p:sp>
        <p:nvSpPr>
          <p:cNvPr id="12" name="Shape 9"/>
          <p:cNvSpPr/>
          <p:nvPr/>
        </p:nvSpPr>
        <p:spPr>
          <a:xfrm>
            <a:off x="548640" y="2286000"/>
            <a:ext cx="8046720" cy="457200"/>
          </a:xfrm>
          <a:prstGeom prst="rect">
            <a:avLst/>
          </a:prstGeom>
          <a:solidFill>
            <a:srgbClr val="2E2B24"/>
          </a:solidFill>
          <a:ln w="12700">
            <a:solidFill>
              <a:srgbClr val="2E2B24"/>
            </a:solidFill>
            <a:prstDash val="solid"/>
          </a:ln>
        </p:spPr>
      </p:sp>
      <p:sp>
        <p:nvSpPr>
          <p:cNvPr id="13" name="Shape 10"/>
          <p:cNvSpPr/>
          <p:nvPr/>
        </p:nvSpPr>
        <p:spPr>
          <a:xfrm>
            <a:off x="548640" y="2286000"/>
            <a:ext cx="73152" cy="457200"/>
          </a:xfrm>
          <a:prstGeom prst="rect">
            <a:avLst/>
          </a:prstGeom>
          <a:solidFill>
            <a:srgbClr val="F2A33A"/>
          </a:solidFill>
          <a:ln w="12700">
            <a:solidFill>
              <a:srgbClr val="F2A33A"/>
            </a:solidFill>
            <a:prstDash val="solid"/>
          </a:ln>
        </p:spPr>
      </p:sp>
      <p:sp>
        <p:nvSpPr>
          <p:cNvPr id="14" name="Text 11"/>
          <p:cNvSpPr txBox="1"/>
          <p:nvPr/>
        </p:nvSpPr>
        <p:spPr>
          <a:xfrm>
            <a:off x="777240" y="2286000"/>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3 · Fábrica</a:t>
            </a:r>
            <a:endParaRPr lang="en-US" sz="1100" dirty="0"/>
          </a:p>
        </p:txBody>
      </p:sp>
      <p:sp>
        <p:nvSpPr>
          <p:cNvPr id="15" name="Text 12"/>
          <p:cNvSpPr txBox="1"/>
          <p:nvPr/>
        </p:nvSpPr>
        <p:spPr>
          <a:xfrm>
            <a:off x="3611880" y="2286000"/>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Muy pocas plantas en el mundo producen los chips más avanzados, y casi todas están en Taiwán.</a:t>
            </a:r>
            <a:endParaRPr lang="en-US" sz="1000" dirty="0"/>
          </a:p>
        </p:txBody>
      </p:sp>
      <p:sp>
        <p:nvSpPr>
          <p:cNvPr id="16" name="Shape 13"/>
          <p:cNvSpPr/>
          <p:nvPr/>
        </p:nvSpPr>
        <p:spPr>
          <a:xfrm>
            <a:off x="548640" y="2798064"/>
            <a:ext cx="8046720" cy="457200"/>
          </a:xfrm>
          <a:prstGeom prst="rect">
            <a:avLst/>
          </a:prstGeom>
          <a:solidFill>
            <a:srgbClr val="26241F"/>
          </a:solidFill>
          <a:ln w="12700">
            <a:solidFill>
              <a:srgbClr val="26241F"/>
            </a:solidFill>
            <a:prstDash val="solid"/>
          </a:ln>
        </p:spPr>
      </p:sp>
      <p:sp>
        <p:nvSpPr>
          <p:cNvPr id="17" name="Shape 14"/>
          <p:cNvSpPr/>
          <p:nvPr/>
        </p:nvSpPr>
        <p:spPr>
          <a:xfrm>
            <a:off x="548640" y="2798064"/>
            <a:ext cx="73152" cy="457200"/>
          </a:xfrm>
          <a:prstGeom prst="rect">
            <a:avLst/>
          </a:prstGeom>
          <a:solidFill>
            <a:srgbClr val="F2A33A"/>
          </a:solidFill>
          <a:ln w="12700">
            <a:solidFill>
              <a:srgbClr val="F2A33A"/>
            </a:solidFill>
            <a:prstDash val="solid"/>
          </a:ln>
        </p:spPr>
      </p:sp>
      <p:sp>
        <p:nvSpPr>
          <p:cNvPr id="18" name="Text 15"/>
          <p:cNvSpPr txBox="1"/>
          <p:nvPr/>
        </p:nvSpPr>
        <p:spPr>
          <a:xfrm>
            <a:off x="777240" y="2798064"/>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4 · La máquina que fabrica las máquinas</a:t>
            </a:r>
            <a:endParaRPr lang="en-US" sz="1100" dirty="0"/>
          </a:p>
        </p:txBody>
      </p:sp>
      <p:sp>
        <p:nvSpPr>
          <p:cNvPr id="19" name="Text 16"/>
          <p:cNvSpPr txBox="1"/>
          <p:nvPr/>
        </p:nvSpPr>
        <p:spPr>
          <a:xfrm>
            <a:off x="3611880" y="2798064"/>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Los equipos de litografía que imprimen esos chips los hace un único proveedor, ASML, en los Países Bajos.</a:t>
            </a:r>
            <a:endParaRPr lang="en-US" sz="1000" dirty="0"/>
          </a:p>
        </p:txBody>
      </p:sp>
      <p:sp>
        <p:nvSpPr>
          <p:cNvPr id="20" name="Shape 17"/>
          <p:cNvSpPr/>
          <p:nvPr/>
        </p:nvSpPr>
        <p:spPr>
          <a:xfrm>
            <a:off x="548640" y="3310128"/>
            <a:ext cx="8046720" cy="457200"/>
          </a:xfrm>
          <a:prstGeom prst="rect">
            <a:avLst/>
          </a:prstGeom>
          <a:solidFill>
            <a:srgbClr val="2E2B24"/>
          </a:solidFill>
          <a:ln w="12700">
            <a:solidFill>
              <a:srgbClr val="2E2B24"/>
            </a:solidFill>
            <a:prstDash val="solid"/>
          </a:ln>
        </p:spPr>
      </p:sp>
      <p:sp>
        <p:nvSpPr>
          <p:cNvPr id="21" name="Shape 18"/>
          <p:cNvSpPr/>
          <p:nvPr/>
        </p:nvSpPr>
        <p:spPr>
          <a:xfrm>
            <a:off x="548640" y="3310128"/>
            <a:ext cx="73152" cy="457200"/>
          </a:xfrm>
          <a:prstGeom prst="rect">
            <a:avLst/>
          </a:prstGeom>
          <a:solidFill>
            <a:srgbClr val="F2A33A"/>
          </a:solidFill>
          <a:ln w="12700">
            <a:solidFill>
              <a:srgbClr val="F2A33A"/>
            </a:solidFill>
            <a:prstDash val="solid"/>
          </a:ln>
        </p:spPr>
      </p:sp>
      <p:sp>
        <p:nvSpPr>
          <p:cNvPr id="22" name="Text 19"/>
          <p:cNvSpPr txBox="1"/>
          <p:nvPr/>
        </p:nvSpPr>
        <p:spPr>
          <a:xfrm>
            <a:off x="777240" y="3310128"/>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5 · Memoria</a:t>
            </a:r>
            <a:endParaRPr lang="en-US" sz="1100" dirty="0"/>
          </a:p>
        </p:txBody>
      </p:sp>
      <p:sp>
        <p:nvSpPr>
          <p:cNvPr id="23" name="Text 20"/>
          <p:cNvSpPr txBox="1"/>
          <p:nvPr/>
        </p:nvSpPr>
        <p:spPr>
          <a:xfrm>
            <a:off x="3611880" y="3310128"/>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La memoria de alto ancho de banda (HBM) va pegada al chip. Hoy es uno de los cuellos de botella del suministro.</a:t>
            </a:r>
            <a:endParaRPr lang="en-US" sz="1000" dirty="0"/>
          </a:p>
        </p:txBody>
      </p:sp>
      <p:sp>
        <p:nvSpPr>
          <p:cNvPr id="24" name="Shape 21"/>
          <p:cNvSpPr/>
          <p:nvPr/>
        </p:nvSpPr>
        <p:spPr>
          <a:xfrm>
            <a:off x="548640" y="3822192"/>
            <a:ext cx="8046720" cy="457200"/>
          </a:xfrm>
          <a:prstGeom prst="rect">
            <a:avLst/>
          </a:prstGeom>
          <a:solidFill>
            <a:srgbClr val="26241F"/>
          </a:solidFill>
          <a:ln w="12700">
            <a:solidFill>
              <a:srgbClr val="26241F"/>
            </a:solidFill>
            <a:prstDash val="solid"/>
          </a:ln>
        </p:spPr>
      </p:sp>
      <p:sp>
        <p:nvSpPr>
          <p:cNvPr id="25" name="Shape 22"/>
          <p:cNvSpPr/>
          <p:nvPr/>
        </p:nvSpPr>
        <p:spPr>
          <a:xfrm>
            <a:off x="548640" y="3822192"/>
            <a:ext cx="73152" cy="457200"/>
          </a:xfrm>
          <a:prstGeom prst="rect">
            <a:avLst/>
          </a:prstGeom>
          <a:solidFill>
            <a:srgbClr val="F2A33A"/>
          </a:solidFill>
          <a:ln w="12700">
            <a:solidFill>
              <a:srgbClr val="F2A33A"/>
            </a:solidFill>
            <a:prstDash val="solid"/>
          </a:ln>
        </p:spPr>
      </p:sp>
      <p:sp>
        <p:nvSpPr>
          <p:cNvPr id="26" name="Text 23"/>
          <p:cNvSpPr txBox="1"/>
          <p:nvPr/>
        </p:nvSpPr>
        <p:spPr>
          <a:xfrm>
            <a:off x="777240" y="3822192"/>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6 · Centro de datos</a:t>
            </a:r>
            <a:endParaRPr lang="en-US" sz="1100" dirty="0"/>
          </a:p>
        </p:txBody>
      </p:sp>
      <p:sp>
        <p:nvSpPr>
          <p:cNvPr id="27" name="Text 24"/>
          <p:cNvSpPr txBox="1"/>
          <p:nvPr/>
        </p:nvSpPr>
        <p:spPr>
          <a:xfrm>
            <a:off x="3611880" y="3822192"/>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Naves con miles de chips, redes y refrigeración operando las 24 horas.</a:t>
            </a:r>
            <a:endParaRPr lang="en-US" sz="1000" dirty="0"/>
          </a:p>
        </p:txBody>
      </p:sp>
      <p:sp>
        <p:nvSpPr>
          <p:cNvPr id="28" name="Shape 25"/>
          <p:cNvSpPr/>
          <p:nvPr/>
        </p:nvSpPr>
        <p:spPr>
          <a:xfrm>
            <a:off x="548640" y="4334256"/>
            <a:ext cx="8046720" cy="457200"/>
          </a:xfrm>
          <a:prstGeom prst="rect">
            <a:avLst/>
          </a:prstGeom>
          <a:solidFill>
            <a:srgbClr val="2E2B24"/>
          </a:solidFill>
          <a:ln w="12700">
            <a:solidFill>
              <a:srgbClr val="2E2B24"/>
            </a:solidFill>
            <a:prstDash val="solid"/>
          </a:ln>
        </p:spPr>
      </p:sp>
      <p:sp>
        <p:nvSpPr>
          <p:cNvPr id="29" name="Shape 26"/>
          <p:cNvSpPr/>
          <p:nvPr/>
        </p:nvSpPr>
        <p:spPr>
          <a:xfrm>
            <a:off x="548640" y="4334256"/>
            <a:ext cx="73152" cy="457200"/>
          </a:xfrm>
          <a:prstGeom prst="rect">
            <a:avLst/>
          </a:prstGeom>
          <a:solidFill>
            <a:srgbClr val="F2A33A"/>
          </a:solidFill>
          <a:ln w="12700">
            <a:solidFill>
              <a:srgbClr val="F2A33A"/>
            </a:solidFill>
            <a:prstDash val="solid"/>
          </a:ln>
        </p:spPr>
      </p:sp>
      <p:sp>
        <p:nvSpPr>
          <p:cNvPr id="30" name="Text 27"/>
          <p:cNvSpPr txBox="1"/>
          <p:nvPr/>
        </p:nvSpPr>
        <p:spPr>
          <a:xfrm>
            <a:off x="777240" y="4334256"/>
            <a:ext cx="2743200" cy="457200"/>
          </a:xfrm>
          <a:prstGeom prst="rect">
            <a:avLst/>
          </a:prstGeom>
          <a:noFill/>
          <a:ln/>
        </p:spPr>
        <p:txBody>
          <a:bodyPr wrap="square" lIns="0" tIns="0" rIns="0" bIns="0" rtlCol="0" anchor="ctr"/>
          <a:lstStyle/>
          <a:p>
            <a:pPr indent="0" marL="0">
              <a:buNone/>
            </a:pPr>
            <a:r>
              <a:rPr lang="en-US" sz="1100" b="1" dirty="0">
                <a:solidFill>
                  <a:srgbClr val="F4EFE4"/>
                </a:solidFill>
                <a:latin typeface="Arial" pitchFamily="34" charset="0"/>
                <a:ea typeface="Arial" pitchFamily="34" charset="-122"/>
                <a:cs typeface="Arial" pitchFamily="34" charset="-120"/>
              </a:rPr>
              <a:t>7 · Mundo físico: energía, cobre, agua, personas</a:t>
            </a:r>
            <a:endParaRPr lang="en-US" sz="1100" dirty="0"/>
          </a:p>
        </p:txBody>
      </p:sp>
      <p:sp>
        <p:nvSpPr>
          <p:cNvPr id="31" name="Text 28"/>
          <p:cNvSpPr txBox="1"/>
          <p:nvPr/>
        </p:nvSpPr>
        <p:spPr>
          <a:xfrm>
            <a:off x="3611880" y="4334256"/>
            <a:ext cx="4846320" cy="457200"/>
          </a:xfrm>
          <a:prstGeom prst="rect">
            <a:avLst/>
          </a:prstGeom>
          <a:noFill/>
          <a:ln/>
        </p:spPr>
        <p:txBody>
          <a:bodyPr wrap="square" lIns="0" tIns="0" rIns="0" bIns="0" rtlCol="0" anchor="ctr"/>
          <a:lstStyle/>
          <a:p>
            <a:pPr indent="0" marL="0">
              <a:buNone/>
            </a:pPr>
            <a:r>
              <a:rPr lang="en-US" sz="1000" dirty="0">
                <a:solidFill>
                  <a:srgbClr val="A79F8D"/>
                </a:solidFill>
                <a:latin typeface="Arial" pitchFamily="34" charset="0"/>
                <a:ea typeface="Arial" pitchFamily="34" charset="-122"/>
                <a:cs typeface="Arial" pitchFamily="34" charset="-120"/>
              </a:rPr>
              <a:t>Electricidad, cobre para el cableado, agua para enfriar y las personas que construyen y operan todo esto.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365760"/>
            <a:ext cx="8046720" cy="640080"/>
          </a:xfrm>
          <a:prstGeom prst="rect">
            <a:avLst/>
          </a:prstGeom>
          <a:noFill/>
          <a:ln/>
        </p:spPr>
        <p:txBody>
          <a:bodyPr wrap="square" lIns="0" tIns="0" rIns="0" bIns="0" rtlCol="0" anchor="t"/>
          <a:lstStyle/>
          <a:p>
            <a:pPr indent="0" marL="0">
              <a:buNone/>
            </a:pPr>
            <a:r>
              <a:rPr lang="en-US" sz="2800" b="1" dirty="0">
                <a:solidFill>
                  <a:srgbClr val="F4EFE4"/>
                </a:solidFill>
                <a:latin typeface="Arial" pitchFamily="34" charset="0"/>
                <a:ea typeface="Arial" pitchFamily="34" charset="-122"/>
                <a:cs typeface="Arial" pitchFamily="34" charset="-120"/>
              </a:rPr>
              <a:t>La obra más grande de la historia</a:t>
            </a:r>
            <a:endParaRPr lang="en-US" sz="2800" dirty="0"/>
          </a:p>
        </p:txBody>
      </p:sp>
      <p:sp>
        <p:nvSpPr>
          <p:cNvPr id="4" name="Shape 1"/>
          <p:cNvSpPr/>
          <p:nvPr/>
        </p:nvSpPr>
        <p:spPr>
          <a:xfrm>
            <a:off x="548640" y="1280160"/>
            <a:ext cx="2560320" cy="2834640"/>
          </a:xfrm>
          <a:prstGeom prst="rect">
            <a:avLst/>
          </a:prstGeom>
          <a:solidFill>
            <a:srgbClr val="26241F"/>
          </a:solidFill>
          <a:ln w="12700">
            <a:solidFill>
              <a:srgbClr val="3A372F"/>
            </a:solidFill>
            <a:prstDash val="solid"/>
          </a:ln>
        </p:spPr>
      </p:sp>
      <p:sp>
        <p:nvSpPr>
          <p:cNvPr id="5" name="Text 2"/>
          <p:cNvSpPr txBox="1"/>
          <p:nvPr/>
        </p:nvSpPr>
        <p:spPr>
          <a:xfrm>
            <a:off x="731520" y="1463040"/>
            <a:ext cx="2194560" cy="731520"/>
          </a:xfrm>
          <a:prstGeom prst="rect">
            <a:avLst/>
          </a:prstGeom>
          <a:noFill/>
          <a:ln/>
        </p:spPr>
        <p:txBody>
          <a:bodyPr wrap="square" lIns="0" tIns="0" rIns="0" bIns="0" rtlCol="0" anchor="t"/>
          <a:lstStyle/>
          <a:p>
            <a:pPr indent="0" marL="0">
              <a:buNone/>
            </a:pPr>
            <a:r>
              <a:rPr lang="en-US" sz="2200" b="1" dirty="0">
                <a:solidFill>
                  <a:srgbClr val="F2A33A"/>
                </a:solidFill>
                <a:latin typeface="Arial" pitchFamily="34" charset="0"/>
                <a:ea typeface="Arial" pitchFamily="34" charset="-122"/>
                <a:cs typeface="Arial" pitchFamily="34" charset="-120"/>
              </a:rPr>
              <a:t>785 mil M USD</a:t>
            </a:r>
            <a:endParaRPr lang="en-US" sz="2200" dirty="0"/>
          </a:p>
        </p:txBody>
      </p:sp>
      <p:sp>
        <p:nvSpPr>
          <p:cNvPr id="6" name="Text 3"/>
          <p:cNvSpPr txBox="1"/>
          <p:nvPr/>
        </p:nvSpPr>
        <p:spPr>
          <a:xfrm>
            <a:off x="731520" y="2240280"/>
            <a:ext cx="2194560" cy="640080"/>
          </a:xfrm>
          <a:prstGeom prst="rect">
            <a:avLst/>
          </a:prstGeom>
          <a:noFill/>
          <a:ln/>
        </p:spPr>
        <p:txBody>
          <a:bodyPr wrap="square" lIns="0" tIns="0" rIns="0" bIns="0" rtlCol="0" anchor="t"/>
          <a:lstStyle/>
          <a:p>
            <a:pPr indent="0" marL="0">
              <a:buNone/>
            </a:pPr>
            <a:r>
              <a:rPr lang="en-US" sz="1100" dirty="0">
                <a:solidFill>
                  <a:srgbClr val="A79F8D"/>
                </a:solidFill>
                <a:latin typeface="Arial" pitchFamily="34" charset="0"/>
                <a:ea typeface="Arial" pitchFamily="34" charset="-122"/>
                <a:cs typeface="Arial" pitchFamily="34" charset="-120"/>
              </a:rPr>
              <a:t>inversión de las 3 grandes tecnológicas este año</a:t>
            </a:r>
            <a:endParaRPr lang="en-US" sz="1100" dirty="0"/>
          </a:p>
        </p:txBody>
      </p:sp>
      <p:sp>
        <p:nvSpPr>
          <p:cNvPr id="7" name="Text 4"/>
          <p:cNvSpPr txBox="1"/>
          <p:nvPr/>
        </p:nvSpPr>
        <p:spPr>
          <a:xfrm>
            <a:off x="731520" y="2971800"/>
            <a:ext cx="2194560" cy="1005840"/>
          </a:xfrm>
          <a:prstGeom prst="rect">
            <a:avLst/>
          </a:prstGeom>
          <a:noFill/>
          <a:ln/>
        </p:spPr>
        <p:txBody>
          <a:bodyPr wrap="square" lIns="0" tIns="0" rIns="0" bIns="0" rtlCol="0" anchor="t"/>
          <a:lstStyle/>
          <a:p>
            <a:pPr indent="0" marL="0">
              <a:buNone/>
            </a:pPr>
            <a:r>
              <a:rPr lang="en-US" sz="1100" dirty="0">
                <a:solidFill>
                  <a:srgbClr val="F4EFE4"/>
                </a:solidFill>
                <a:latin typeface="Arial" pitchFamily="34" charset="0"/>
                <a:ea typeface="Arial" pitchFamily="34" charset="-122"/>
                <a:cs typeface="Arial" pitchFamily="34" charset="-120"/>
              </a:rPr>
              <a:t>Se destina a centros de datos, chips y energía. Es una apuesta de capital sin precedentes en una sola tecnología.</a:t>
            </a:r>
            <a:endParaRPr lang="en-US" sz="1100" dirty="0"/>
          </a:p>
        </p:txBody>
      </p:sp>
      <p:sp>
        <p:nvSpPr>
          <p:cNvPr id="8" name="Shape 5"/>
          <p:cNvSpPr/>
          <p:nvPr/>
        </p:nvSpPr>
        <p:spPr>
          <a:xfrm>
            <a:off x="3291840" y="1280160"/>
            <a:ext cx="2560320" cy="2834640"/>
          </a:xfrm>
          <a:prstGeom prst="rect">
            <a:avLst/>
          </a:prstGeom>
          <a:solidFill>
            <a:srgbClr val="26241F"/>
          </a:solidFill>
          <a:ln w="12700">
            <a:solidFill>
              <a:srgbClr val="3A372F"/>
            </a:solidFill>
            <a:prstDash val="solid"/>
          </a:ln>
        </p:spPr>
      </p:sp>
      <p:sp>
        <p:nvSpPr>
          <p:cNvPr id="9" name="Text 6"/>
          <p:cNvSpPr txBox="1"/>
          <p:nvPr/>
        </p:nvSpPr>
        <p:spPr>
          <a:xfrm>
            <a:off x="3474720" y="1463040"/>
            <a:ext cx="2194560" cy="731520"/>
          </a:xfrm>
          <a:prstGeom prst="rect">
            <a:avLst/>
          </a:prstGeom>
          <a:noFill/>
          <a:ln/>
        </p:spPr>
        <p:txBody>
          <a:bodyPr wrap="square" lIns="0" tIns="0" rIns="0" bIns="0" rtlCol="0" anchor="t"/>
          <a:lstStyle/>
          <a:p>
            <a:pPr indent="0" marL="0">
              <a:buNone/>
            </a:pPr>
            <a:r>
              <a:rPr lang="en-US" sz="2200" b="1" dirty="0">
                <a:solidFill>
                  <a:srgbClr val="F2A33A"/>
                </a:solidFill>
                <a:latin typeface="Arial" pitchFamily="34" charset="0"/>
                <a:ea typeface="Arial" pitchFamily="34" charset="-122"/>
                <a:cs typeface="Arial" pitchFamily="34" charset="-120"/>
              </a:rPr>
              <a:t>2,5 % vs 1,5 %</a:t>
            </a:r>
            <a:endParaRPr lang="en-US" sz="2200" dirty="0"/>
          </a:p>
        </p:txBody>
      </p:sp>
      <p:sp>
        <p:nvSpPr>
          <p:cNvPr id="10" name="Text 7"/>
          <p:cNvSpPr txBox="1"/>
          <p:nvPr/>
        </p:nvSpPr>
        <p:spPr>
          <a:xfrm>
            <a:off x="3474720" y="2240280"/>
            <a:ext cx="2194560" cy="640080"/>
          </a:xfrm>
          <a:prstGeom prst="rect">
            <a:avLst/>
          </a:prstGeom>
          <a:noFill/>
          <a:ln/>
        </p:spPr>
        <p:txBody>
          <a:bodyPr wrap="square" lIns="0" tIns="0" rIns="0" bIns="0" rtlCol="0" anchor="t"/>
          <a:lstStyle/>
          <a:p>
            <a:pPr indent="0" marL="0">
              <a:buNone/>
            </a:pPr>
            <a:r>
              <a:rPr lang="en-US" sz="1100" dirty="0">
                <a:solidFill>
                  <a:srgbClr val="A79F8D"/>
                </a:solidFill>
                <a:latin typeface="Arial" pitchFamily="34" charset="0"/>
                <a:ea typeface="Arial" pitchFamily="34" charset="-122"/>
                <a:cs typeface="Arial" pitchFamily="34" charset="-120"/>
              </a:rPr>
              <a:t>de la economía de EE. UU.: IA frente al boom de internet</a:t>
            </a:r>
            <a:endParaRPr lang="en-US" sz="1100" dirty="0"/>
          </a:p>
        </p:txBody>
      </p:sp>
      <p:sp>
        <p:nvSpPr>
          <p:cNvPr id="11" name="Text 8"/>
          <p:cNvSpPr txBox="1"/>
          <p:nvPr/>
        </p:nvSpPr>
        <p:spPr>
          <a:xfrm>
            <a:off x="3474720" y="2971800"/>
            <a:ext cx="2194560" cy="1005840"/>
          </a:xfrm>
          <a:prstGeom prst="rect">
            <a:avLst/>
          </a:prstGeom>
          <a:noFill/>
          <a:ln/>
        </p:spPr>
        <p:txBody>
          <a:bodyPr wrap="square" lIns="0" tIns="0" rIns="0" bIns="0" rtlCol="0" anchor="t"/>
          <a:lstStyle/>
          <a:p>
            <a:pPr indent="0" marL="0">
              <a:buNone/>
            </a:pPr>
            <a:r>
              <a:rPr lang="en-US" sz="1100" dirty="0">
                <a:solidFill>
                  <a:srgbClr val="F4EFE4"/>
                </a:solidFill>
                <a:latin typeface="Arial" pitchFamily="34" charset="0"/>
                <a:ea typeface="Arial" pitchFamily="34" charset="-122"/>
                <a:cs typeface="Arial" pitchFamily="34" charset="-120"/>
              </a:rPr>
              <a:t>La IA ya pesa más en la economía estadounidense que el boom de internet en su punto más alto.</a:t>
            </a:r>
            <a:endParaRPr lang="en-US" sz="1100" dirty="0"/>
          </a:p>
        </p:txBody>
      </p:sp>
      <p:sp>
        <p:nvSpPr>
          <p:cNvPr id="12" name="Shape 9"/>
          <p:cNvSpPr/>
          <p:nvPr/>
        </p:nvSpPr>
        <p:spPr>
          <a:xfrm>
            <a:off x="6035040" y="1280160"/>
            <a:ext cx="2560320" cy="2834640"/>
          </a:xfrm>
          <a:prstGeom prst="rect">
            <a:avLst/>
          </a:prstGeom>
          <a:solidFill>
            <a:srgbClr val="26241F"/>
          </a:solidFill>
          <a:ln w="12700">
            <a:solidFill>
              <a:srgbClr val="3A372F"/>
            </a:solidFill>
            <a:prstDash val="solid"/>
          </a:ln>
        </p:spPr>
      </p:sp>
      <p:sp>
        <p:nvSpPr>
          <p:cNvPr id="13" name="Text 10"/>
          <p:cNvSpPr txBox="1"/>
          <p:nvPr/>
        </p:nvSpPr>
        <p:spPr>
          <a:xfrm>
            <a:off x="6217920" y="1463040"/>
            <a:ext cx="2194560" cy="731520"/>
          </a:xfrm>
          <a:prstGeom prst="rect">
            <a:avLst/>
          </a:prstGeom>
          <a:noFill/>
          <a:ln/>
        </p:spPr>
        <p:txBody>
          <a:bodyPr wrap="square" lIns="0" tIns="0" rIns="0" bIns="0" rtlCol="0" anchor="t"/>
          <a:lstStyle/>
          <a:p>
            <a:pPr indent="0" marL="0">
              <a:buNone/>
            </a:pPr>
            <a:r>
              <a:rPr lang="en-US" sz="2200" b="1" dirty="0">
                <a:solidFill>
                  <a:srgbClr val="F2A33A"/>
                </a:solidFill>
                <a:latin typeface="Arial" pitchFamily="34" charset="0"/>
                <a:ea typeface="Arial" pitchFamily="34" charset="-122"/>
                <a:cs typeface="Arial" pitchFamily="34" charset="-120"/>
              </a:rPr>
              <a:t>~90 %</a:t>
            </a:r>
            <a:endParaRPr lang="en-US" sz="2200" dirty="0"/>
          </a:p>
        </p:txBody>
      </p:sp>
      <p:sp>
        <p:nvSpPr>
          <p:cNvPr id="14" name="Text 11"/>
          <p:cNvSpPr txBox="1"/>
          <p:nvPr/>
        </p:nvSpPr>
        <p:spPr>
          <a:xfrm>
            <a:off x="6217920" y="2240280"/>
            <a:ext cx="2194560" cy="640080"/>
          </a:xfrm>
          <a:prstGeom prst="rect">
            <a:avLst/>
          </a:prstGeom>
          <a:noFill/>
          <a:ln/>
        </p:spPr>
        <p:txBody>
          <a:bodyPr wrap="square" lIns="0" tIns="0" rIns="0" bIns="0" rtlCol="0" anchor="t"/>
          <a:lstStyle/>
          <a:p>
            <a:pPr indent="0" marL="0">
              <a:buNone/>
            </a:pPr>
            <a:r>
              <a:rPr lang="en-US" sz="1100" dirty="0">
                <a:solidFill>
                  <a:srgbClr val="A79F8D"/>
                </a:solidFill>
                <a:latin typeface="Arial" pitchFamily="34" charset="0"/>
                <a:ea typeface="Arial" pitchFamily="34" charset="-122"/>
                <a:cs typeface="Arial" pitchFamily="34" charset="-120"/>
              </a:rPr>
              <a:t>de los chips avanzados, en una sola isla</a:t>
            </a:r>
            <a:endParaRPr lang="en-US" sz="1100" dirty="0"/>
          </a:p>
        </p:txBody>
      </p:sp>
      <p:sp>
        <p:nvSpPr>
          <p:cNvPr id="15" name="Text 12"/>
          <p:cNvSpPr txBox="1"/>
          <p:nvPr/>
        </p:nvSpPr>
        <p:spPr>
          <a:xfrm>
            <a:off x="6217920" y="2971800"/>
            <a:ext cx="2194560" cy="1005840"/>
          </a:xfrm>
          <a:prstGeom prst="rect">
            <a:avLst/>
          </a:prstGeom>
          <a:noFill/>
          <a:ln/>
        </p:spPr>
        <p:txBody>
          <a:bodyPr wrap="square" lIns="0" tIns="0" rIns="0" bIns="0" rtlCol="0" anchor="t"/>
          <a:lstStyle/>
          <a:p>
            <a:pPr indent="0" marL="0">
              <a:buNone/>
            </a:pPr>
            <a:r>
              <a:rPr lang="en-US" sz="1100" dirty="0">
                <a:solidFill>
                  <a:srgbClr val="F4EFE4"/>
                </a:solidFill>
                <a:latin typeface="Arial" pitchFamily="34" charset="0"/>
                <a:ea typeface="Arial" pitchFamily="34" charset="-122"/>
                <a:cs typeface="Arial" pitchFamily="34" charset="-120"/>
              </a:rPr>
              <a:t>Una concentración geográfica así es un riesgo de suministro: afecta precios y plazos de todos.</a:t>
            </a:r>
            <a:endParaRPr lang="en-US" sz="1100" dirty="0"/>
          </a:p>
        </p:txBody>
      </p:sp>
      <p:sp>
        <p:nvSpPr>
          <p:cNvPr id="16" name="Text 13"/>
          <p:cNvSpPr txBox="1"/>
          <p:nvPr/>
        </p:nvSpPr>
        <p:spPr>
          <a:xfrm>
            <a:off x="548640" y="4343400"/>
            <a:ext cx="8046720" cy="365760"/>
          </a:xfrm>
          <a:prstGeom prst="rect">
            <a:avLst/>
          </a:prstGeom>
          <a:noFill/>
          <a:ln/>
        </p:spPr>
        <p:txBody>
          <a:bodyPr wrap="square" lIns="0" tIns="0" rIns="0" bIns="0" rtlCol="0" anchor="t"/>
          <a:lstStyle/>
          <a:p>
            <a:pPr indent="0" marL="0">
              <a:buNone/>
            </a:pPr>
            <a:r>
              <a:rPr lang="en-US" sz="1300" dirty="0">
                <a:solidFill>
                  <a:srgbClr val="A79F8D"/>
                </a:solidFill>
                <a:latin typeface="Arial" pitchFamily="34" charset="0"/>
                <a:ea typeface="Arial" pitchFamily="34" charset="-122"/>
                <a:cs typeface="Arial" pitchFamily="34" charset="-120"/>
              </a:rPr>
              <a:t>Frenos: energía · memoria · materiales · personas. Ponen precio, no detienen.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457200"/>
            <a:ext cx="8046720" cy="1371600"/>
          </a:xfrm>
          <a:prstGeom prst="rect">
            <a:avLst/>
          </a:prstGeom>
          <a:noFill/>
          <a:ln/>
        </p:spPr>
        <p:txBody>
          <a:bodyPr wrap="square" lIns="0" tIns="0" rIns="0" bIns="0" rtlCol="0" anchor="t"/>
          <a:lstStyle/>
          <a:p>
            <a:pPr indent="0" marL="0">
              <a:buNone/>
            </a:pPr>
            <a:r>
              <a:rPr lang="en-US" sz="3600" b="1" dirty="0">
                <a:solidFill>
                  <a:srgbClr val="F4EFE4"/>
                </a:solidFill>
                <a:latin typeface="Arial" pitchFamily="34" charset="0"/>
                <a:ea typeface="Arial" pitchFamily="34" charset="-122"/>
                <a:cs typeface="Arial" pitchFamily="34" charset="-120"/>
              </a:rPr>
              <a:t>Nokia tenía todo.</a:t>
            </a:r>
            <a:endParaRPr lang="en-US" sz="3600" dirty="0"/>
          </a:p>
          <a:p>
            <a:pPr indent="0" marL="0">
              <a:buNone/>
            </a:pPr>
            <a:r>
              <a:rPr lang="en-US" sz="3600" b="1" dirty="0">
                <a:solidFill>
                  <a:srgbClr val="F2A33A"/>
                </a:solidFill>
                <a:latin typeface="Arial" pitchFamily="34" charset="0"/>
                <a:ea typeface="Arial" pitchFamily="34" charset="-122"/>
                <a:cs typeface="Arial" pitchFamily="34" charset="-120"/>
              </a:rPr>
              <a:t>Reaccionó tarde.</a:t>
            </a:r>
            <a:endParaRPr lang="en-US" sz="3600" dirty="0"/>
          </a:p>
        </p:txBody>
      </p:sp>
      <p:sp>
        <p:nvSpPr>
          <p:cNvPr id="4" name="Shape 1"/>
          <p:cNvSpPr/>
          <p:nvPr/>
        </p:nvSpPr>
        <p:spPr>
          <a:xfrm>
            <a:off x="548640" y="2103120"/>
            <a:ext cx="3931920" cy="1463040"/>
          </a:xfrm>
          <a:prstGeom prst="rect">
            <a:avLst/>
          </a:prstGeom>
          <a:solidFill>
            <a:srgbClr val="26241F"/>
          </a:solidFill>
          <a:ln w="12700">
            <a:solidFill>
              <a:srgbClr val="3A372F"/>
            </a:solidFill>
            <a:prstDash val="solid"/>
          </a:ln>
        </p:spPr>
      </p:sp>
      <p:sp>
        <p:nvSpPr>
          <p:cNvPr id="5" name="Text 2"/>
          <p:cNvSpPr txBox="1"/>
          <p:nvPr/>
        </p:nvSpPr>
        <p:spPr>
          <a:xfrm>
            <a:off x="777240" y="2286000"/>
            <a:ext cx="3474720" cy="457200"/>
          </a:xfrm>
          <a:prstGeom prst="rect">
            <a:avLst/>
          </a:prstGeom>
          <a:noFill/>
          <a:ln/>
        </p:spPr>
        <p:txBody>
          <a:bodyPr wrap="square" lIns="0" tIns="0" rIns="0" bIns="0" rtlCol="0" anchor="t"/>
          <a:lstStyle/>
          <a:p>
            <a:pPr indent="0" marL="0">
              <a:buNone/>
            </a:pPr>
            <a:r>
              <a:rPr lang="en-US" sz="2600" b="1" dirty="0">
                <a:solidFill>
                  <a:srgbClr val="F2A33A"/>
                </a:solidFill>
                <a:latin typeface="Arial" pitchFamily="34" charset="0"/>
                <a:ea typeface="Arial" pitchFamily="34" charset="-122"/>
                <a:cs typeface="Arial" pitchFamily="34" charset="-120"/>
              </a:rPr>
              <a:t>Antes</a:t>
            </a:r>
            <a:endParaRPr lang="en-US" sz="2600" dirty="0"/>
          </a:p>
        </p:txBody>
      </p:sp>
      <p:sp>
        <p:nvSpPr>
          <p:cNvPr id="6" name="Text 3"/>
          <p:cNvSpPr txBox="1"/>
          <p:nvPr/>
        </p:nvSpPr>
        <p:spPr>
          <a:xfrm>
            <a:off x="777240" y="2834640"/>
            <a:ext cx="3474720" cy="640080"/>
          </a:xfrm>
          <a:prstGeom prst="rect">
            <a:avLst/>
          </a:prstGeom>
          <a:noFill/>
          <a:ln/>
        </p:spPr>
        <p:txBody>
          <a:bodyPr wrap="square" lIns="0" tIns="0" rIns="0" bIns="0" rtlCol="0" anchor="t"/>
          <a:lstStyle/>
          <a:p>
            <a:pPr indent="0" marL="0">
              <a:buNone/>
            </a:pPr>
            <a:r>
              <a:rPr lang="en-US" sz="1400" dirty="0">
                <a:solidFill>
                  <a:srgbClr val="A79F8D"/>
                </a:solidFill>
                <a:latin typeface="Arial" pitchFamily="34" charset="0"/>
                <a:ea typeface="Arial" pitchFamily="34" charset="-122"/>
                <a:cs typeface="Arial" pitchFamily="34" charset="-120"/>
              </a:rPr>
              <a:t>Líder mundial de móviles: marca, recursos y talento</a:t>
            </a:r>
            <a:endParaRPr lang="en-US" sz="1400" dirty="0"/>
          </a:p>
        </p:txBody>
      </p:sp>
      <p:sp>
        <p:nvSpPr>
          <p:cNvPr id="7" name="Shape 4"/>
          <p:cNvSpPr/>
          <p:nvPr/>
        </p:nvSpPr>
        <p:spPr>
          <a:xfrm>
            <a:off x="4663440" y="2103120"/>
            <a:ext cx="3931920" cy="1463040"/>
          </a:xfrm>
          <a:prstGeom prst="rect">
            <a:avLst/>
          </a:prstGeom>
          <a:solidFill>
            <a:srgbClr val="26241F"/>
          </a:solidFill>
          <a:ln w="12700">
            <a:solidFill>
              <a:srgbClr val="3A372F"/>
            </a:solidFill>
            <a:prstDash val="solid"/>
          </a:ln>
        </p:spPr>
      </p:sp>
      <p:sp>
        <p:nvSpPr>
          <p:cNvPr id="8" name="Text 5"/>
          <p:cNvSpPr txBox="1"/>
          <p:nvPr/>
        </p:nvSpPr>
        <p:spPr>
          <a:xfrm>
            <a:off x="4892040" y="2286000"/>
            <a:ext cx="3474720" cy="457200"/>
          </a:xfrm>
          <a:prstGeom prst="rect">
            <a:avLst/>
          </a:prstGeom>
          <a:noFill/>
          <a:ln/>
        </p:spPr>
        <p:txBody>
          <a:bodyPr wrap="square" lIns="0" tIns="0" rIns="0" bIns="0" rtlCol="0" anchor="t"/>
          <a:lstStyle/>
          <a:p>
            <a:pPr indent="0" marL="0">
              <a:buNone/>
            </a:pPr>
            <a:r>
              <a:rPr lang="en-US" sz="2600" b="1" dirty="0">
                <a:solidFill>
                  <a:srgbClr val="F2A33A"/>
                </a:solidFill>
                <a:latin typeface="Arial" pitchFamily="34" charset="0"/>
                <a:ea typeface="Arial" pitchFamily="34" charset="-122"/>
                <a:cs typeface="Arial" pitchFamily="34" charset="-120"/>
              </a:rPr>
              <a:t>Después</a:t>
            </a:r>
            <a:endParaRPr lang="en-US" sz="2600" dirty="0"/>
          </a:p>
        </p:txBody>
      </p:sp>
      <p:sp>
        <p:nvSpPr>
          <p:cNvPr id="9" name="Text 6"/>
          <p:cNvSpPr txBox="1"/>
          <p:nvPr/>
        </p:nvSpPr>
        <p:spPr>
          <a:xfrm>
            <a:off x="4892040" y="2834640"/>
            <a:ext cx="3474720" cy="640080"/>
          </a:xfrm>
          <a:prstGeom prst="rect">
            <a:avLst/>
          </a:prstGeom>
          <a:noFill/>
          <a:ln/>
        </p:spPr>
        <p:txBody>
          <a:bodyPr wrap="square" lIns="0" tIns="0" rIns="0" bIns="0" rtlCol="0" anchor="t"/>
          <a:lstStyle/>
          <a:p>
            <a:pPr indent="0" marL="0">
              <a:buNone/>
            </a:pPr>
            <a:r>
              <a:rPr lang="en-US" sz="1400" dirty="0">
                <a:solidFill>
                  <a:srgbClr val="A79F8D"/>
                </a:solidFill>
                <a:latin typeface="Arial" pitchFamily="34" charset="0"/>
                <a:ea typeface="Arial" pitchFamily="34" charset="-122"/>
                <a:cs typeface="Arial" pitchFamily="34" charset="-120"/>
              </a:rPr>
              <a:t>Perdió el liderazgo y vendió su negocio de móviles (2013)</a:t>
            </a:r>
            <a:endParaRPr lang="en-US" sz="1400" dirty="0"/>
          </a:p>
        </p:txBody>
      </p:sp>
      <p:sp>
        <p:nvSpPr>
          <p:cNvPr id="10" name="Text 7"/>
          <p:cNvSpPr txBox="1"/>
          <p:nvPr/>
        </p:nvSpPr>
        <p:spPr>
          <a:xfrm>
            <a:off x="548640" y="3931920"/>
            <a:ext cx="8046720" cy="457200"/>
          </a:xfrm>
          <a:prstGeom prst="rect">
            <a:avLst/>
          </a:prstGeom>
          <a:noFill/>
          <a:ln/>
        </p:spPr>
        <p:txBody>
          <a:bodyPr wrap="square" lIns="0" tIns="0" rIns="0" bIns="0" rtlCol="0" anchor="t"/>
          <a:lstStyle/>
          <a:p>
            <a:pPr indent="0" marL="0">
              <a:buNone/>
            </a:pPr>
            <a:r>
              <a:rPr lang="en-US" sz="1800" dirty="0">
                <a:solidFill>
                  <a:srgbClr val="A79F8D"/>
                </a:solidFill>
                <a:latin typeface="Arial" pitchFamily="34" charset="0"/>
                <a:ea typeface="Arial" pitchFamily="34" charset="-122"/>
                <a:cs typeface="Arial" pitchFamily="34" charset="-120"/>
              </a:rPr>
              <a:t>No fue el tamaño. Fue adaptarse a tiempo.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731520"/>
          </a:xfrm>
          <a:prstGeom prst="rect">
            <a:avLst/>
          </a:prstGeom>
          <a:noFill/>
          <a:ln/>
        </p:spPr>
        <p:txBody>
          <a:bodyPr wrap="square" lIns="0" tIns="0" rIns="0" bIns="0" rtlCol="0" anchor="t"/>
          <a:lstStyle/>
          <a:p>
            <a:pPr indent="0" marL="0">
              <a:buNone/>
            </a:pPr>
            <a:r>
              <a:rPr lang="en-US" sz="1800" dirty="0">
                <a:solidFill>
                  <a:srgbClr val="F4EFE4"/>
                </a:solidFill>
                <a:latin typeface="Arial" pitchFamily="34" charset="0"/>
                <a:ea typeface="Arial" pitchFamily="34" charset="-122"/>
                <a:cs typeface="Arial" pitchFamily="34" charset="-120"/>
              </a:rPr>
              <a:t>Dos ingenieros de TI reciben el mismo problema: inventario y chancado de datos.</a:t>
            </a:r>
            <a:endParaRPr lang="en-US" sz="1800" dirty="0"/>
          </a:p>
        </p:txBody>
      </p:sp>
      <p:sp>
        <p:nvSpPr>
          <p:cNvPr id="4" name="Shape 1"/>
          <p:cNvSpPr/>
          <p:nvPr/>
        </p:nvSpPr>
        <p:spPr>
          <a:xfrm>
            <a:off x="548640" y="1188720"/>
            <a:ext cx="3931920" cy="2377440"/>
          </a:xfrm>
          <a:prstGeom prst="rect">
            <a:avLst/>
          </a:prstGeom>
          <a:solidFill>
            <a:srgbClr val="26241F"/>
          </a:solidFill>
          <a:ln w="12700">
            <a:solidFill>
              <a:srgbClr val="3A372F"/>
            </a:solidFill>
            <a:prstDash val="solid"/>
          </a:ln>
        </p:spPr>
      </p:sp>
      <p:sp>
        <p:nvSpPr>
          <p:cNvPr id="5" name="Text 2"/>
          <p:cNvSpPr txBox="1"/>
          <p:nvPr/>
        </p:nvSpPr>
        <p:spPr>
          <a:xfrm>
            <a:off x="777240" y="1325880"/>
            <a:ext cx="3474720" cy="365760"/>
          </a:xfrm>
          <a:prstGeom prst="rect">
            <a:avLst/>
          </a:prstGeom>
          <a:noFill/>
          <a:ln/>
        </p:spPr>
        <p:txBody>
          <a:bodyPr wrap="square" lIns="0" tIns="0" rIns="0" bIns="0" rtlCol="0" anchor="t"/>
          <a:lstStyle/>
          <a:p>
            <a:pPr indent="0" marL="0">
              <a:buNone/>
            </a:pPr>
            <a:r>
              <a:rPr lang="en-US" sz="1800" b="1" dirty="0">
                <a:solidFill>
                  <a:srgbClr val="A79F8D"/>
                </a:solidFill>
                <a:latin typeface="Arial" pitchFamily="34" charset="0"/>
                <a:ea typeface="Arial" pitchFamily="34" charset="-122"/>
                <a:cs typeface="Arial" pitchFamily="34" charset="-120"/>
              </a:rPr>
              <a:t>Ingeniero A</a:t>
            </a:r>
            <a:endParaRPr lang="en-US" sz="1800" dirty="0"/>
          </a:p>
        </p:txBody>
      </p:sp>
      <p:sp>
        <p:nvSpPr>
          <p:cNvPr id="6" name="Text 3"/>
          <p:cNvSpPr txBox="1"/>
          <p:nvPr/>
        </p:nvSpPr>
        <p:spPr>
          <a:xfrm>
            <a:off x="777240" y="1691640"/>
            <a:ext cx="3474720" cy="274320"/>
          </a:xfrm>
          <a:prstGeom prst="rect">
            <a:avLst/>
          </a:prstGeom>
          <a:noFill/>
          <a:ln/>
        </p:spPr>
        <p:txBody>
          <a:bodyPr wrap="square" lIns="0" tIns="0" rIns="0" bIns="0" rtlCol="0" anchor="t"/>
          <a:lstStyle/>
          <a:p>
            <a:pPr indent="0" marL="0">
              <a:buNone/>
            </a:pPr>
            <a:r>
              <a:rPr lang="en-US" sz="1100" dirty="0">
                <a:solidFill>
                  <a:srgbClr val="A79F8D"/>
                </a:solidFill>
                <a:latin typeface="Arial" pitchFamily="34" charset="0"/>
                <a:ea typeface="Arial" pitchFamily="34" charset="-122"/>
                <a:cs typeface="Arial" pitchFamily="34" charset="-120"/>
              </a:rPr>
              <a:t>Baja adopción de IA</a:t>
            </a:r>
            <a:endParaRPr lang="en-US" sz="1100" dirty="0"/>
          </a:p>
        </p:txBody>
      </p:sp>
      <p:sp>
        <p:nvSpPr>
          <p:cNvPr id="7" name="Text 4"/>
          <p:cNvSpPr txBox="1"/>
          <p:nvPr/>
        </p:nvSpPr>
        <p:spPr>
          <a:xfrm>
            <a:off x="777240" y="2057400"/>
            <a:ext cx="3474720" cy="228600"/>
          </a:xfrm>
          <a:prstGeom prst="rect">
            <a:avLst/>
          </a:prstGeom>
          <a:noFill/>
          <a:ln/>
        </p:spPr>
        <p:txBody>
          <a:bodyPr wrap="square" lIns="0" tIns="0" rIns="0" bIns="0" rtlCol="0" anchor="t"/>
          <a:lstStyle/>
          <a:p>
            <a:pPr indent="0" marL="0">
              <a:buNone/>
            </a:pPr>
            <a:r>
              <a:rPr lang="en-US" sz="1000" dirty="0">
                <a:solidFill>
                  <a:srgbClr val="A79F8D"/>
                </a:solidFill>
                <a:latin typeface="Arial" pitchFamily="34" charset="0"/>
                <a:ea typeface="Arial" pitchFamily="34" charset="-122"/>
                <a:cs typeface="Arial" pitchFamily="34" charset="-120"/>
              </a:rPr>
              <a:t>Eficiencia con IA</a:t>
            </a:r>
            <a:endParaRPr lang="en-US" sz="1000" dirty="0"/>
          </a:p>
        </p:txBody>
      </p:sp>
      <p:sp>
        <p:nvSpPr>
          <p:cNvPr id="8" name="Text 5"/>
          <p:cNvSpPr txBox="1"/>
          <p:nvPr/>
        </p:nvSpPr>
        <p:spPr>
          <a:xfrm>
            <a:off x="777240" y="2286000"/>
            <a:ext cx="3474720" cy="502920"/>
          </a:xfrm>
          <a:prstGeom prst="rect">
            <a:avLst/>
          </a:prstGeom>
          <a:noFill/>
          <a:ln/>
        </p:spPr>
        <p:txBody>
          <a:bodyPr wrap="square" lIns="0" tIns="0" rIns="0" bIns="0" rtlCol="0" anchor="t"/>
          <a:lstStyle/>
          <a:p>
            <a:pPr indent="0" marL="0">
              <a:buNone/>
            </a:pPr>
            <a:r>
              <a:rPr lang="en-US" sz="3200" b="1" dirty="0">
                <a:solidFill>
                  <a:srgbClr val="A79F8D"/>
                </a:solidFill>
                <a:latin typeface="Arial" pitchFamily="34" charset="0"/>
                <a:ea typeface="Arial" pitchFamily="34" charset="-122"/>
                <a:cs typeface="Arial" pitchFamily="34" charset="-120"/>
              </a:rPr>
              <a:t>10 %</a:t>
            </a:r>
            <a:endParaRPr lang="en-US" sz="3200" dirty="0"/>
          </a:p>
        </p:txBody>
      </p:sp>
      <p:sp>
        <p:nvSpPr>
          <p:cNvPr id="9" name="Text 6"/>
          <p:cNvSpPr txBox="1"/>
          <p:nvPr/>
        </p:nvSpPr>
        <p:spPr>
          <a:xfrm>
            <a:off x="777240" y="2834640"/>
            <a:ext cx="3474720" cy="228600"/>
          </a:xfrm>
          <a:prstGeom prst="rect">
            <a:avLst/>
          </a:prstGeom>
          <a:noFill/>
          <a:ln/>
        </p:spPr>
        <p:txBody>
          <a:bodyPr wrap="square" lIns="0" tIns="0" rIns="0" bIns="0" rtlCol="0" anchor="t"/>
          <a:lstStyle/>
          <a:p>
            <a:pPr indent="0" marL="0">
              <a:buNone/>
            </a:pPr>
            <a:r>
              <a:rPr lang="en-US" sz="1000" dirty="0">
                <a:solidFill>
                  <a:srgbClr val="A79F8D"/>
                </a:solidFill>
                <a:latin typeface="Arial" pitchFamily="34" charset="0"/>
                <a:ea typeface="Arial" pitchFamily="34" charset="-122"/>
                <a:cs typeface="Arial" pitchFamily="34" charset="-120"/>
              </a:rPr>
              <a:t>Tiempo de solución</a:t>
            </a:r>
            <a:endParaRPr lang="en-US" sz="1000" dirty="0"/>
          </a:p>
        </p:txBody>
      </p:sp>
      <p:sp>
        <p:nvSpPr>
          <p:cNvPr id="10" name="Text 7"/>
          <p:cNvSpPr txBox="1"/>
          <p:nvPr/>
        </p:nvSpPr>
        <p:spPr>
          <a:xfrm>
            <a:off x="777240" y="3063240"/>
            <a:ext cx="3474720" cy="365760"/>
          </a:xfrm>
          <a:prstGeom prst="rect">
            <a:avLst/>
          </a:prstGeom>
          <a:noFill/>
          <a:ln/>
        </p:spPr>
        <p:txBody>
          <a:bodyPr wrap="square" lIns="0" tIns="0" rIns="0" bIns="0" rtlCol="0" anchor="t"/>
          <a:lstStyle/>
          <a:p>
            <a:pPr indent="0" marL="0">
              <a:buNone/>
            </a:pPr>
            <a:r>
              <a:rPr lang="en-US" sz="2000" b="1" dirty="0">
                <a:solidFill>
                  <a:srgbClr val="A79F8D"/>
                </a:solidFill>
                <a:latin typeface="Arial" pitchFamily="34" charset="0"/>
                <a:ea typeface="Arial" pitchFamily="34" charset="-122"/>
                <a:cs typeface="Arial" pitchFamily="34" charset="-120"/>
              </a:rPr>
              <a:t>2 a 3 semanas</a:t>
            </a:r>
            <a:endParaRPr lang="en-US" sz="2000" dirty="0"/>
          </a:p>
        </p:txBody>
      </p:sp>
      <p:sp>
        <p:nvSpPr>
          <p:cNvPr id="11" name="Shape 8"/>
          <p:cNvSpPr/>
          <p:nvPr/>
        </p:nvSpPr>
        <p:spPr>
          <a:xfrm>
            <a:off x="4663440" y="1188720"/>
            <a:ext cx="3931920" cy="2377440"/>
          </a:xfrm>
          <a:prstGeom prst="rect">
            <a:avLst/>
          </a:prstGeom>
          <a:solidFill>
            <a:srgbClr val="26241F"/>
          </a:solidFill>
          <a:ln w="19050">
            <a:solidFill>
              <a:srgbClr val="F2A33A"/>
            </a:solidFill>
            <a:prstDash val="solid"/>
          </a:ln>
        </p:spPr>
      </p:sp>
      <p:sp>
        <p:nvSpPr>
          <p:cNvPr id="12" name="Text 9"/>
          <p:cNvSpPr txBox="1"/>
          <p:nvPr/>
        </p:nvSpPr>
        <p:spPr>
          <a:xfrm>
            <a:off x="4892040" y="1325880"/>
            <a:ext cx="3474720" cy="365760"/>
          </a:xfrm>
          <a:prstGeom prst="rect">
            <a:avLst/>
          </a:prstGeom>
          <a:noFill/>
          <a:ln/>
        </p:spPr>
        <p:txBody>
          <a:bodyPr wrap="square" lIns="0" tIns="0" rIns="0" bIns="0" rtlCol="0" anchor="t"/>
          <a:lstStyle/>
          <a:p>
            <a:pPr indent="0" marL="0">
              <a:buNone/>
            </a:pPr>
            <a:r>
              <a:rPr lang="en-US" sz="1800" b="1" dirty="0">
                <a:solidFill>
                  <a:srgbClr val="F2A33A"/>
                </a:solidFill>
                <a:latin typeface="Arial" pitchFamily="34" charset="0"/>
                <a:ea typeface="Arial" pitchFamily="34" charset="-122"/>
                <a:cs typeface="Arial" pitchFamily="34" charset="-120"/>
              </a:rPr>
              <a:t>Ingeniero B</a:t>
            </a:r>
            <a:endParaRPr lang="en-US" sz="1800" dirty="0"/>
          </a:p>
        </p:txBody>
      </p:sp>
      <p:sp>
        <p:nvSpPr>
          <p:cNvPr id="13" name="Text 10"/>
          <p:cNvSpPr txBox="1"/>
          <p:nvPr/>
        </p:nvSpPr>
        <p:spPr>
          <a:xfrm>
            <a:off x="4892040" y="1691640"/>
            <a:ext cx="3474720" cy="274320"/>
          </a:xfrm>
          <a:prstGeom prst="rect">
            <a:avLst/>
          </a:prstGeom>
          <a:noFill/>
          <a:ln/>
        </p:spPr>
        <p:txBody>
          <a:bodyPr wrap="square" lIns="0" tIns="0" rIns="0" bIns="0" rtlCol="0" anchor="t"/>
          <a:lstStyle/>
          <a:p>
            <a:pPr indent="0" marL="0">
              <a:buNone/>
            </a:pPr>
            <a:r>
              <a:rPr lang="en-US" sz="1100" dirty="0">
                <a:solidFill>
                  <a:srgbClr val="A79F8D"/>
                </a:solidFill>
                <a:latin typeface="Arial" pitchFamily="34" charset="0"/>
                <a:ea typeface="Arial" pitchFamily="34" charset="-122"/>
                <a:cs typeface="Arial" pitchFamily="34" charset="-120"/>
              </a:rPr>
              <a:t>Alta adopción de IA</a:t>
            </a:r>
            <a:endParaRPr lang="en-US" sz="1100" dirty="0"/>
          </a:p>
        </p:txBody>
      </p:sp>
      <p:sp>
        <p:nvSpPr>
          <p:cNvPr id="14" name="Text 11"/>
          <p:cNvSpPr txBox="1"/>
          <p:nvPr/>
        </p:nvSpPr>
        <p:spPr>
          <a:xfrm>
            <a:off x="4892040" y="2057400"/>
            <a:ext cx="3474720" cy="228600"/>
          </a:xfrm>
          <a:prstGeom prst="rect">
            <a:avLst/>
          </a:prstGeom>
          <a:noFill/>
          <a:ln/>
        </p:spPr>
        <p:txBody>
          <a:bodyPr wrap="square" lIns="0" tIns="0" rIns="0" bIns="0" rtlCol="0" anchor="t"/>
          <a:lstStyle/>
          <a:p>
            <a:pPr indent="0" marL="0">
              <a:buNone/>
            </a:pPr>
            <a:r>
              <a:rPr lang="en-US" sz="1000" dirty="0">
                <a:solidFill>
                  <a:srgbClr val="A79F8D"/>
                </a:solidFill>
                <a:latin typeface="Arial" pitchFamily="34" charset="0"/>
                <a:ea typeface="Arial" pitchFamily="34" charset="-122"/>
                <a:cs typeface="Arial" pitchFamily="34" charset="-120"/>
              </a:rPr>
              <a:t>Eficiencia con IA</a:t>
            </a:r>
            <a:endParaRPr lang="en-US" sz="1000" dirty="0"/>
          </a:p>
        </p:txBody>
      </p:sp>
      <p:sp>
        <p:nvSpPr>
          <p:cNvPr id="15" name="Text 12"/>
          <p:cNvSpPr txBox="1"/>
          <p:nvPr/>
        </p:nvSpPr>
        <p:spPr>
          <a:xfrm>
            <a:off x="4892040" y="2286000"/>
            <a:ext cx="3474720" cy="502920"/>
          </a:xfrm>
          <a:prstGeom prst="rect">
            <a:avLst/>
          </a:prstGeom>
          <a:noFill/>
          <a:ln/>
        </p:spPr>
        <p:txBody>
          <a:bodyPr wrap="square" lIns="0" tIns="0" rIns="0" bIns="0" rtlCol="0" anchor="t"/>
          <a:lstStyle/>
          <a:p>
            <a:pPr indent="0" marL="0">
              <a:buNone/>
            </a:pPr>
            <a:r>
              <a:rPr lang="en-US" sz="3200" b="1" dirty="0">
                <a:solidFill>
                  <a:srgbClr val="F2A33A"/>
                </a:solidFill>
                <a:latin typeface="Arial" pitchFamily="34" charset="0"/>
                <a:ea typeface="Arial" pitchFamily="34" charset="-122"/>
                <a:cs typeface="Arial" pitchFamily="34" charset="-120"/>
              </a:rPr>
              <a:t>80 %</a:t>
            </a:r>
            <a:endParaRPr lang="en-US" sz="3200" dirty="0"/>
          </a:p>
        </p:txBody>
      </p:sp>
      <p:sp>
        <p:nvSpPr>
          <p:cNvPr id="16" name="Text 13"/>
          <p:cNvSpPr txBox="1"/>
          <p:nvPr/>
        </p:nvSpPr>
        <p:spPr>
          <a:xfrm>
            <a:off x="4892040" y="2834640"/>
            <a:ext cx="3474720" cy="228600"/>
          </a:xfrm>
          <a:prstGeom prst="rect">
            <a:avLst/>
          </a:prstGeom>
          <a:noFill/>
          <a:ln/>
        </p:spPr>
        <p:txBody>
          <a:bodyPr wrap="square" lIns="0" tIns="0" rIns="0" bIns="0" rtlCol="0" anchor="t"/>
          <a:lstStyle/>
          <a:p>
            <a:pPr indent="0" marL="0">
              <a:buNone/>
            </a:pPr>
            <a:r>
              <a:rPr lang="en-US" sz="1000" dirty="0">
                <a:solidFill>
                  <a:srgbClr val="A79F8D"/>
                </a:solidFill>
                <a:latin typeface="Arial" pitchFamily="34" charset="0"/>
                <a:ea typeface="Arial" pitchFamily="34" charset="-122"/>
                <a:cs typeface="Arial" pitchFamily="34" charset="-120"/>
              </a:rPr>
              <a:t>Tiempo de solución</a:t>
            </a:r>
            <a:endParaRPr lang="en-US" sz="1000" dirty="0"/>
          </a:p>
        </p:txBody>
      </p:sp>
      <p:sp>
        <p:nvSpPr>
          <p:cNvPr id="17" name="Text 14"/>
          <p:cNvSpPr txBox="1"/>
          <p:nvPr/>
        </p:nvSpPr>
        <p:spPr>
          <a:xfrm>
            <a:off x="4892040" y="3063240"/>
            <a:ext cx="3474720" cy="365760"/>
          </a:xfrm>
          <a:prstGeom prst="rect">
            <a:avLst/>
          </a:prstGeom>
          <a:noFill/>
          <a:ln/>
        </p:spPr>
        <p:txBody>
          <a:bodyPr wrap="square" lIns="0" tIns="0" rIns="0" bIns="0" rtlCol="0" anchor="t"/>
          <a:lstStyle/>
          <a:p>
            <a:pPr indent="0" marL="0">
              <a:buNone/>
            </a:pPr>
            <a:r>
              <a:rPr lang="en-US" sz="2000" b="1" dirty="0">
                <a:solidFill>
                  <a:srgbClr val="F2A33A"/>
                </a:solidFill>
                <a:latin typeface="Arial" pitchFamily="34" charset="0"/>
                <a:ea typeface="Arial" pitchFamily="34" charset="-122"/>
                <a:cs typeface="Arial" pitchFamily="34" charset="-120"/>
              </a:rPr>
              <a:t>5 a 10 días</a:t>
            </a:r>
            <a:endParaRPr lang="en-US" sz="2000" dirty="0"/>
          </a:p>
        </p:txBody>
      </p:sp>
      <p:sp>
        <p:nvSpPr>
          <p:cNvPr id="18" name="Text 15"/>
          <p:cNvSpPr txBox="1"/>
          <p:nvPr/>
        </p:nvSpPr>
        <p:spPr>
          <a:xfrm>
            <a:off x="548640" y="3794760"/>
            <a:ext cx="8046720" cy="548640"/>
          </a:xfrm>
          <a:prstGeom prst="rect">
            <a:avLst/>
          </a:prstGeom>
          <a:noFill/>
          <a:ln/>
        </p:spPr>
        <p:txBody>
          <a:bodyPr wrap="square" lIns="0" tIns="0" rIns="0" bIns="0" rtlCol="0" anchor="t"/>
          <a:lstStyle/>
          <a:p>
            <a:pPr indent="0" marL="0">
              <a:buNone/>
            </a:pPr>
            <a:r>
              <a:rPr lang="en-US" sz="2600" b="1" dirty="0">
                <a:solidFill>
                  <a:srgbClr val="F4EFE4"/>
                </a:solidFill>
                <a:latin typeface="Arial" pitchFamily="34" charset="0"/>
                <a:ea typeface="Arial" pitchFamily="34" charset="-122"/>
                <a:cs typeface="Arial" pitchFamily="34" charset="-120"/>
              </a:rPr>
              <a:t>¿Cuál queremos que sea nuestro equipo?</a:t>
            </a:r>
            <a:endParaRPr lang="en-US" sz="2600" dirty="0"/>
          </a:p>
        </p:txBody>
      </p:sp>
      <p:sp>
        <p:nvSpPr>
          <p:cNvPr id="19" name="Text 16"/>
          <p:cNvSpPr txBox="1"/>
          <p:nvPr/>
        </p:nvSpPr>
        <p:spPr>
          <a:xfrm>
            <a:off x="548640" y="4572000"/>
            <a:ext cx="8046720" cy="228600"/>
          </a:xfrm>
          <a:prstGeom prst="rect">
            <a:avLst/>
          </a:prstGeom>
          <a:noFill/>
          <a:ln/>
        </p:spPr>
        <p:txBody>
          <a:bodyPr wrap="square" lIns="0" tIns="0" rIns="0" bIns="0" rtlCol="0" anchor="t"/>
          <a:lstStyle/>
          <a:p>
            <a:pPr indent="0" marL="0">
              <a:buNone/>
            </a:pPr>
            <a:r>
              <a:rPr lang="en-US" sz="900" dirty="0">
                <a:solidFill>
                  <a:srgbClr val="A79F8D"/>
                </a:solidFill>
                <a:latin typeface="Arial" pitchFamily="34" charset="0"/>
                <a:ea typeface="Arial" pitchFamily="34" charset="-122"/>
                <a:cs typeface="Arial" pitchFamily="34" charset="-120"/>
              </a:rPr>
              <a:t>Escenario ilustrativo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548640"/>
          </a:xfrm>
          <a:prstGeom prst="rect">
            <a:avLst/>
          </a:prstGeom>
          <a:noFill/>
          <a:ln/>
        </p:spPr>
        <p:txBody>
          <a:bodyPr wrap="square" lIns="0" tIns="0" rIns="0" bIns="0" rtlCol="0" anchor="t"/>
          <a:lstStyle/>
          <a:p>
            <a:pPr indent="0" marL="0">
              <a:buNone/>
            </a:pPr>
            <a:r>
              <a:rPr lang="en-US" sz="2600" b="1" dirty="0">
                <a:solidFill>
                  <a:srgbClr val="F4EFE4"/>
                </a:solidFill>
                <a:latin typeface="Arial" pitchFamily="34" charset="0"/>
                <a:ea typeface="Arial" pitchFamily="34" charset="-122"/>
                <a:cs typeface="Arial" pitchFamily="34" charset="-120"/>
              </a:rPr>
              <a:t>Piloto de 90 días: tres pasos simples</a:t>
            </a:r>
            <a:endParaRPr lang="en-US" sz="2600" dirty="0"/>
          </a:p>
        </p:txBody>
      </p:sp>
      <p:sp>
        <p:nvSpPr>
          <p:cNvPr id="4" name="Shape 1"/>
          <p:cNvSpPr/>
          <p:nvPr/>
        </p:nvSpPr>
        <p:spPr>
          <a:xfrm>
            <a:off x="548640" y="1051560"/>
            <a:ext cx="2560320" cy="3017520"/>
          </a:xfrm>
          <a:prstGeom prst="rect">
            <a:avLst/>
          </a:prstGeom>
          <a:solidFill>
            <a:srgbClr val="26241F"/>
          </a:solidFill>
          <a:ln w="12700">
            <a:solidFill>
              <a:srgbClr val="3A372F"/>
            </a:solidFill>
            <a:prstDash val="solid"/>
          </a:ln>
        </p:spPr>
      </p:sp>
      <p:sp>
        <p:nvSpPr>
          <p:cNvPr id="5" name="Shape 2"/>
          <p:cNvSpPr/>
          <p:nvPr/>
        </p:nvSpPr>
        <p:spPr>
          <a:xfrm>
            <a:off x="548640" y="1051560"/>
            <a:ext cx="2560320" cy="73152"/>
          </a:xfrm>
          <a:prstGeom prst="rect">
            <a:avLst/>
          </a:prstGeom>
          <a:solidFill>
            <a:srgbClr val="F2A33A"/>
          </a:solidFill>
          <a:ln w="12700">
            <a:solidFill>
              <a:srgbClr val="F2A33A"/>
            </a:solidFill>
            <a:prstDash val="solid"/>
          </a:ln>
        </p:spPr>
      </p:sp>
      <p:sp>
        <p:nvSpPr>
          <p:cNvPr id="6" name="Text 3"/>
          <p:cNvSpPr txBox="1"/>
          <p:nvPr/>
        </p:nvSpPr>
        <p:spPr>
          <a:xfrm>
            <a:off x="731520" y="1234440"/>
            <a:ext cx="2194560" cy="274320"/>
          </a:xfrm>
          <a:prstGeom prst="rect">
            <a:avLst/>
          </a:prstGeom>
          <a:noFill/>
          <a:ln/>
        </p:spPr>
        <p:txBody>
          <a:bodyPr wrap="square" lIns="0" tIns="0" rIns="0" bIns="0" rtlCol="0" anchor="t"/>
          <a:lstStyle/>
          <a:p>
            <a:pPr indent="0" marL="0">
              <a:buNone/>
            </a:pPr>
            <a:r>
              <a:rPr lang="en-US" sz="1200" b="1" dirty="0">
                <a:solidFill>
                  <a:srgbClr val="F2A33A"/>
                </a:solidFill>
                <a:latin typeface="Arial" pitchFamily="34" charset="0"/>
                <a:ea typeface="Arial" pitchFamily="34" charset="-122"/>
                <a:cs typeface="Arial" pitchFamily="34" charset="-120"/>
              </a:rPr>
              <a:t>Días 1–15</a:t>
            </a:r>
            <a:endParaRPr lang="en-US" sz="1200" dirty="0"/>
          </a:p>
        </p:txBody>
      </p:sp>
      <p:sp>
        <p:nvSpPr>
          <p:cNvPr id="7" name="Text 4"/>
          <p:cNvSpPr txBox="1"/>
          <p:nvPr/>
        </p:nvSpPr>
        <p:spPr>
          <a:xfrm>
            <a:off x="731520" y="1508760"/>
            <a:ext cx="2194560" cy="548640"/>
          </a:xfrm>
          <a:prstGeom prst="rect">
            <a:avLst/>
          </a:prstGeom>
          <a:noFill/>
          <a:ln/>
        </p:spPr>
        <p:txBody>
          <a:bodyPr wrap="square" lIns="0" tIns="0" rIns="0" bIns="0" rtlCol="0" anchor="t"/>
          <a:lstStyle/>
          <a:p>
            <a:pPr indent="0" marL="0">
              <a:buNone/>
            </a:pPr>
            <a:r>
              <a:rPr lang="en-US" sz="1500" b="1" dirty="0">
                <a:solidFill>
                  <a:srgbClr val="F4EFE4"/>
                </a:solidFill>
                <a:latin typeface="Arial" pitchFamily="34" charset="0"/>
                <a:ea typeface="Arial" pitchFamily="34" charset="-122"/>
                <a:cs typeface="Arial" pitchFamily="34" charset="-120"/>
              </a:rPr>
              <a:t>Medir y aprender</a:t>
            </a:r>
            <a:endParaRPr lang="en-US" sz="1500" dirty="0"/>
          </a:p>
        </p:txBody>
      </p:sp>
      <p:sp>
        <p:nvSpPr>
          <p:cNvPr id="8" name="Text 5"/>
          <p:cNvSpPr txBox="1"/>
          <p:nvPr/>
        </p:nvSpPr>
        <p:spPr>
          <a:xfrm>
            <a:off x="731520" y="2103120"/>
            <a:ext cx="2194560" cy="548640"/>
          </a:xfrm>
          <a:prstGeom prst="rect">
            <a:avLst/>
          </a:prstGeom>
          <a:noFill/>
          <a:ln/>
        </p:spPr>
        <p:txBody>
          <a:bodyPr wrap="square" lIns="0" tIns="0" rIns="0" bIns="0" rtlCol="0" anchor="t"/>
          <a:lstStyle/>
          <a:p>
            <a:pPr indent="0" marL="0">
              <a:buNone/>
            </a:pPr>
            <a:r>
              <a:rPr lang="en-US" sz="1050" dirty="0">
                <a:solidFill>
                  <a:srgbClr val="A79F8D"/>
                </a:solidFill>
                <a:latin typeface="Arial" pitchFamily="34" charset="0"/>
                <a:ea typeface="Arial" pitchFamily="34" charset="-122"/>
                <a:cs typeface="Arial" pitchFamily="34" charset="-120"/>
              </a:rPr>
              <a:t>Vemos cómo trabajamos hoy y aprendemos a usar la IA con cuidado.</a:t>
            </a:r>
            <a:endParaRPr lang="en-US" sz="1050" dirty="0"/>
          </a:p>
        </p:txBody>
      </p:sp>
      <p:sp>
        <p:nvSpPr>
          <p:cNvPr id="9" name="Text 6"/>
          <p:cNvSpPr txBox="1"/>
          <p:nvPr/>
        </p:nvSpPr>
        <p:spPr>
          <a:xfrm>
            <a:off x="731520" y="2697480"/>
            <a:ext cx="2194560" cy="1280160"/>
          </a:xfrm>
          <a:prstGeom prst="rect">
            <a:avLst/>
          </a:prstGeom>
          <a:noFill/>
          <a:ln/>
        </p:spPr>
        <p:txBody>
          <a:bodyPr wrap="square" lIns="0" tIns="0" rIns="0" bIns="0" rtlCol="0" anchor="t"/>
          <a:lstStyle/>
          <a:p>
            <a:pPr indent="0" marL="0">
              <a:buNone/>
            </a:pPr>
            <a:r>
              <a:rPr lang="en-US" sz="1000" dirty="0">
                <a:solidFill>
                  <a:srgbClr val="F4EFE4"/>
                </a:solidFill>
                <a:latin typeface="Arial" pitchFamily="34" charset="0"/>
                <a:ea typeface="Arial" pitchFamily="34" charset="-122"/>
                <a:cs typeface="Arial" pitchFamily="34" charset="-120"/>
              </a:rPr>
              <a:t>Anotamos cuánto tarda cada tarea y cuántos errores tenemos hoy, para poder comparar después. Acordamos reglas simples: qué información nunca se comparte con la IA. Y hacemos una capacitación corta para todos.</a:t>
            </a:r>
            <a:endParaRPr lang="en-US" sz="1000" dirty="0"/>
          </a:p>
        </p:txBody>
      </p:sp>
      <p:sp>
        <p:nvSpPr>
          <p:cNvPr id="10" name="Shape 7"/>
          <p:cNvSpPr/>
          <p:nvPr/>
        </p:nvSpPr>
        <p:spPr>
          <a:xfrm>
            <a:off x="3291840" y="1051560"/>
            <a:ext cx="2560320" cy="3017520"/>
          </a:xfrm>
          <a:prstGeom prst="rect">
            <a:avLst/>
          </a:prstGeom>
          <a:solidFill>
            <a:srgbClr val="26241F"/>
          </a:solidFill>
          <a:ln w="12700">
            <a:solidFill>
              <a:srgbClr val="3A372F"/>
            </a:solidFill>
            <a:prstDash val="solid"/>
          </a:ln>
        </p:spPr>
      </p:sp>
      <p:sp>
        <p:nvSpPr>
          <p:cNvPr id="11" name="Shape 8"/>
          <p:cNvSpPr/>
          <p:nvPr/>
        </p:nvSpPr>
        <p:spPr>
          <a:xfrm>
            <a:off x="3291840" y="1051560"/>
            <a:ext cx="2560320" cy="73152"/>
          </a:xfrm>
          <a:prstGeom prst="rect">
            <a:avLst/>
          </a:prstGeom>
          <a:solidFill>
            <a:srgbClr val="F2A33A"/>
          </a:solidFill>
          <a:ln w="12700">
            <a:solidFill>
              <a:srgbClr val="F2A33A"/>
            </a:solidFill>
            <a:prstDash val="solid"/>
          </a:ln>
        </p:spPr>
      </p:sp>
      <p:sp>
        <p:nvSpPr>
          <p:cNvPr id="12" name="Text 9"/>
          <p:cNvSpPr txBox="1"/>
          <p:nvPr/>
        </p:nvSpPr>
        <p:spPr>
          <a:xfrm>
            <a:off x="3474720" y="1234440"/>
            <a:ext cx="2194560" cy="274320"/>
          </a:xfrm>
          <a:prstGeom prst="rect">
            <a:avLst/>
          </a:prstGeom>
          <a:noFill/>
          <a:ln/>
        </p:spPr>
        <p:txBody>
          <a:bodyPr wrap="square" lIns="0" tIns="0" rIns="0" bIns="0" rtlCol="0" anchor="t"/>
          <a:lstStyle/>
          <a:p>
            <a:pPr indent="0" marL="0">
              <a:buNone/>
            </a:pPr>
            <a:r>
              <a:rPr lang="en-US" sz="1200" b="1" dirty="0">
                <a:solidFill>
                  <a:srgbClr val="F2A33A"/>
                </a:solidFill>
                <a:latin typeface="Arial" pitchFamily="34" charset="0"/>
                <a:ea typeface="Arial" pitchFamily="34" charset="-122"/>
                <a:cs typeface="Arial" pitchFamily="34" charset="-120"/>
              </a:rPr>
              <a:t>Días 16–60</a:t>
            </a:r>
            <a:endParaRPr lang="en-US" sz="1200" dirty="0"/>
          </a:p>
        </p:txBody>
      </p:sp>
      <p:sp>
        <p:nvSpPr>
          <p:cNvPr id="13" name="Text 10"/>
          <p:cNvSpPr txBox="1"/>
          <p:nvPr/>
        </p:nvSpPr>
        <p:spPr>
          <a:xfrm>
            <a:off x="3474720" y="1508760"/>
            <a:ext cx="2194560" cy="548640"/>
          </a:xfrm>
          <a:prstGeom prst="rect">
            <a:avLst/>
          </a:prstGeom>
          <a:noFill/>
          <a:ln/>
        </p:spPr>
        <p:txBody>
          <a:bodyPr wrap="square" lIns="0" tIns="0" rIns="0" bIns="0" rtlCol="0" anchor="t"/>
          <a:lstStyle/>
          <a:p>
            <a:pPr indent="0" marL="0">
              <a:buNone/>
            </a:pPr>
            <a:r>
              <a:rPr lang="en-US" sz="1500" b="1" dirty="0">
                <a:solidFill>
                  <a:srgbClr val="F4EFE4"/>
                </a:solidFill>
                <a:latin typeface="Arial" pitchFamily="34" charset="0"/>
                <a:ea typeface="Arial" pitchFamily="34" charset="-122"/>
                <a:cs typeface="Arial" pitchFamily="34" charset="-120"/>
              </a:rPr>
              <a:t>Practicar con trabajo real</a:t>
            </a:r>
            <a:endParaRPr lang="en-US" sz="1500" dirty="0"/>
          </a:p>
        </p:txBody>
      </p:sp>
      <p:sp>
        <p:nvSpPr>
          <p:cNvPr id="14" name="Text 11"/>
          <p:cNvSpPr txBox="1"/>
          <p:nvPr/>
        </p:nvSpPr>
        <p:spPr>
          <a:xfrm>
            <a:off x="3474720" y="2103120"/>
            <a:ext cx="2194560" cy="548640"/>
          </a:xfrm>
          <a:prstGeom prst="rect">
            <a:avLst/>
          </a:prstGeom>
          <a:noFill/>
          <a:ln/>
        </p:spPr>
        <p:txBody>
          <a:bodyPr wrap="square" lIns="0" tIns="0" rIns="0" bIns="0" rtlCol="0" anchor="t"/>
          <a:lstStyle/>
          <a:p>
            <a:pPr indent="0" marL="0">
              <a:buNone/>
            </a:pPr>
            <a:r>
              <a:rPr lang="en-US" sz="1050" dirty="0">
                <a:solidFill>
                  <a:srgbClr val="A79F8D"/>
                </a:solidFill>
                <a:latin typeface="Arial" pitchFamily="34" charset="0"/>
                <a:ea typeface="Arial" pitchFamily="34" charset="-122"/>
                <a:cs typeface="Arial" pitchFamily="34" charset="-120"/>
              </a:rPr>
              <a:t>Usamos la IA en tareas de verdad, con una persona que revisa.</a:t>
            </a:r>
            <a:endParaRPr lang="en-US" sz="1050" dirty="0"/>
          </a:p>
        </p:txBody>
      </p:sp>
      <p:sp>
        <p:nvSpPr>
          <p:cNvPr id="15" name="Text 12"/>
          <p:cNvSpPr txBox="1"/>
          <p:nvPr/>
        </p:nvSpPr>
        <p:spPr>
          <a:xfrm>
            <a:off x="3474720" y="2697480"/>
            <a:ext cx="2194560" cy="1280160"/>
          </a:xfrm>
          <a:prstGeom prst="rect">
            <a:avLst/>
          </a:prstGeom>
          <a:noFill/>
          <a:ln/>
        </p:spPr>
        <p:txBody>
          <a:bodyPr wrap="square" lIns="0" tIns="0" rIns="0" bIns="0" rtlCol="0" anchor="t"/>
          <a:lstStyle/>
          <a:p>
            <a:pPr indent="0" marL="0">
              <a:buNone/>
            </a:pPr>
            <a:r>
              <a:rPr lang="en-US" sz="1000" dirty="0">
                <a:solidFill>
                  <a:srgbClr val="F4EFE4"/>
                </a:solidFill>
                <a:latin typeface="Arial" pitchFamily="34" charset="0"/>
                <a:ea typeface="Arial" pitchFamily="34" charset="-122"/>
                <a:cs typeface="Arial" pitchFamily="34" charset="-120"/>
              </a:rPr>
              <a:t>La IA ayuda en el trabajo diario, pero una persona siempre revisa el resultado. Guardamos en una lista compartida las instrucciones (prompts) que mejor funcionan. Cada semana conversamos qué funcionó y qué no.</a:t>
            </a:r>
            <a:endParaRPr lang="en-US" sz="1000" dirty="0"/>
          </a:p>
        </p:txBody>
      </p:sp>
      <p:sp>
        <p:nvSpPr>
          <p:cNvPr id="16" name="Shape 13"/>
          <p:cNvSpPr/>
          <p:nvPr/>
        </p:nvSpPr>
        <p:spPr>
          <a:xfrm>
            <a:off x="6035040" y="1051560"/>
            <a:ext cx="2560320" cy="3017520"/>
          </a:xfrm>
          <a:prstGeom prst="rect">
            <a:avLst/>
          </a:prstGeom>
          <a:solidFill>
            <a:srgbClr val="26241F"/>
          </a:solidFill>
          <a:ln w="12700">
            <a:solidFill>
              <a:srgbClr val="3A372F"/>
            </a:solidFill>
            <a:prstDash val="solid"/>
          </a:ln>
        </p:spPr>
      </p:sp>
      <p:sp>
        <p:nvSpPr>
          <p:cNvPr id="17" name="Shape 14"/>
          <p:cNvSpPr/>
          <p:nvPr/>
        </p:nvSpPr>
        <p:spPr>
          <a:xfrm>
            <a:off x="6035040" y="1051560"/>
            <a:ext cx="2560320" cy="73152"/>
          </a:xfrm>
          <a:prstGeom prst="rect">
            <a:avLst/>
          </a:prstGeom>
          <a:solidFill>
            <a:srgbClr val="F2A33A"/>
          </a:solidFill>
          <a:ln w="12700">
            <a:solidFill>
              <a:srgbClr val="F2A33A"/>
            </a:solidFill>
            <a:prstDash val="solid"/>
          </a:ln>
        </p:spPr>
      </p:sp>
      <p:sp>
        <p:nvSpPr>
          <p:cNvPr id="18" name="Text 15"/>
          <p:cNvSpPr txBox="1"/>
          <p:nvPr/>
        </p:nvSpPr>
        <p:spPr>
          <a:xfrm>
            <a:off x="6217920" y="1234440"/>
            <a:ext cx="2194560" cy="274320"/>
          </a:xfrm>
          <a:prstGeom prst="rect">
            <a:avLst/>
          </a:prstGeom>
          <a:noFill/>
          <a:ln/>
        </p:spPr>
        <p:txBody>
          <a:bodyPr wrap="square" lIns="0" tIns="0" rIns="0" bIns="0" rtlCol="0" anchor="t"/>
          <a:lstStyle/>
          <a:p>
            <a:pPr indent="0" marL="0">
              <a:buNone/>
            </a:pPr>
            <a:r>
              <a:rPr lang="en-US" sz="1200" b="1" dirty="0">
                <a:solidFill>
                  <a:srgbClr val="F2A33A"/>
                </a:solidFill>
                <a:latin typeface="Arial" pitchFamily="34" charset="0"/>
                <a:ea typeface="Arial" pitchFamily="34" charset="-122"/>
                <a:cs typeface="Arial" pitchFamily="34" charset="-120"/>
              </a:rPr>
              <a:t>Días 61–90</a:t>
            </a:r>
            <a:endParaRPr lang="en-US" sz="1200" dirty="0"/>
          </a:p>
        </p:txBody>
      </p:sp>
      <p:sp>
        <p:nvSpPr>
          <p:cNvPr id="19" name="Text 16"/>
          <p:cNvSpPr txBox="1"/>
          <p:nvPr/>
        </p:nvSpPr>
        <p:spPr>
          <a:xfrm>
            <a:off x="6217920" y="1508760"/>
            <a:ext cx="2194560" cy="548640"/>
          </a:xfrm>
          <a:prstGeom prst="rect">
            <a:avLst/>
          </a:prstGeom>
          <a:noFill/>
          <a:ln/>
        </p:spPr>
        <p:txBody>
          <a:bodyPr wrap="square" lIns="0" tIns="0" rIns="0" bIns="0" rtlCol="0" anchor="t"/>
          <a:lstStyle/>
          <a:p>
            <a:pPr indent="0" marL="0">
              <a:buNone/>
            </a:pPr>
            <a:r>
              <a:rPr lang="en-US" sz="1500" b="1" dirty="0">
                <a:solidFill>
                  <a:srgbClr val="F4EFE4"/>
                </a:solidFill>
                <a:latin typeface="Arial" pitchFamily="34" charset="0"/>
                <a:ea typeface="Arial" pitchFamily="34" charset="-122"/>
                <a:cs typeface="Arial" pitchFamily="34" charset="-120"/>
              </a:rPr>
              <a:t>Comparar y decidir</a:t>
            </a:r>
            <a:endParaRPr lang="en-US" sz="1500" dirty="0"/>
          </a:p>
        </p:txBody>
      </p:sp>
      <p:sp>
        <p:nvSpPr>
          <p:cNvPr id="20" name="Text 17"/>
          <p:cNvSpPr txBox="1"/>
          <p:nvPr/>
        </p:nvSpPr>
        <p:spPr>
          <a:xfrm>
            <a:off x="6217920" y="2103120"/>
            <a:ext cx="2194560" cy="548640"/>
          </a:xfrm>
          <a:prstGeom prst="rect">
            <a:avLst/>
          </a:prstGeom>
          <a:noFill/>
          <a:ln/>
        </p:spPr>
        <p:txBody>
          <a:bodyPr wrap="square" lIns="0" tIns="0" rIns="0" bIns="0" rtlCol="0" anchor="t"/>
          <a:lstStyle/>
          <a:p>
            <a:pPr indent="0" marL="0">
              <a:buNone/>
            </a:pPr>
            <a:r>
              <a:rPr lang="en-US" sz="1050" dirty="0">
                <a:solidFill>
                  <a:srgbClr val="A79F8D"/>
                </a:solidFill>
                <a:latin typeface="Arial" pitchFamily="34" charset="0"/>
                <a:ea typeface="Arial" pitchFamily="34" charset="-122"/>
                <a:cs typeface="Arial" pitchFamily="34" charset="-120"/>
              </a:rPr>
              <a:t>Comparamos el antes y el después, y decidimos con números.</a:t>
            </a:r>
            <a:endParaRPr lang="en-US" sz="1050" dirty="0"/>
          </a:p>
        </p:txBody>
      </p:sp>
      <p:sp>
        <p:nvSpPr>
          <p:cNvPr id="21" name="Text 18"/>
          <p:cNvSpPr txBox="1"/>
          <p:nvPr/>
        </p:nvSpPr>
        <p:spPr>
          <a:xfrm>
            <a:off x="6217920" y="2697480"/>
            <a:ext cx="2194560" cy="1280160"/>
          </a:xfrm>
          <a:prstGeom prst="rect">
            <a:avLst/>
          </a:prstGeom>
          <a:noFill/>
          <a:ln/>
        </p:spPr>
        <p:txBody>
          <a:bodyPr wrap="square" lIns="0" tIns="0" rIns="0" bIns="0" rtlCol="0" anchor="t"/>
          <a:lstStyle/>
          <a:p>
            <a:pPr indent="0" marL="0">
              <a:buNone/>
            </a:pPr>
            <a:r>
              <a:rPr lang="en-US" sz="1000" dirty="0">
                <a:solidFill>
                  <a:srgbClr val="F4EFE4"/>
                </a:solidFill>
                <a:latin typeface="Arial" pitchFamily="34" charset="0"/>
                <a:ea typeface="Arial" pitchFamily="34" charset="-122"/>
                <a:cs typeface="Arial" pitchFamily="34" charset="-120"/>
              </a:rPr>
              <a:t>Ponemos lado a lado los números del inicio y del final: tiempo, calidad y errores. Con eso decidimos juntos: seguir y ampliar, ajustar o parar.</a:t>
            </a:r>
            <a:endParaRPr lang="en-US" sz="1000" dirty="0"/>
          </a:p>
        </p:txBody>
      </p:sp>
      <p:sp>
        <p:nvSpPr>
          <p:cNvPr id="22" name="Text 19"/>
          <p:cNvSpPr txBox="1"/>
          <p:nvPr/>
        </p:nvSpPr>
        <p:spPr>
          <a:xfrm>
            <a:off x="548640" y="4251960"/>
            <a:ext cx="8046720" cy="502920"/>
          </a:xfrm>
          <a:prstGeom prst="rect">
            <a:avLst/>
          </a:prstGeom>
          <a:noFill/>
          <a:ln/>
        </p:spPr>
        <p:txBody>
          <a:bodyPr wrap="square" lIns="0" tIns="0" rIns="0" bIns="0" rtlCol="0" anchor="t"/>
          <a:lstStyle/>
          <a:p>
            <a:pPr indent="0" marL="0">
              <a:buNone/>
            </a:pPr>
            <a:r>
              <a:rPr lang="en-US" sz="1200" dirty="0">
                <a:solidFill>
                  <a:srgbClr val="F4EFE4"/>
                </a:solidFill>
                <a:latin typeface="Arial" pitchFamily="34" charset="0"/>
                <a:ea typeface="Arial" pitchFamily="34" charset="-122"/>
                <a:cs typeface="Arial" pitchFamily="34" charset="-120"/>
              </a:rPr>
              <a:t>Resultados esperados: menos tiempo en tareas repetitivas · mejor calidad · menos errores · equipo con más confianza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A17"/>
        </a:solidFill>
      </p:bgPr>
    </p:bg>
    <p:spTree>
      <p:nvGrpSpPr>
        <p:cNvPr id="1" name=""/>
        <p:cNvGrpSpPr/>
        <p:nvPr/>
      </p:nvGrpSpPr>
      <p:grpSpPr>
        <a:xfrm>
          <a:off x="0" y="0"/>
          <a:ext cx="0" cy="0"/>
          <a:chOff x="0" y="0"/>
          <a:chExt cx="0" cy="0"/>
        </a:xfrm>
      </p:grpSpPr>
      <p:sp>
        <p:nvSpPr>
          <p:cNvPr id="3" name="Text 0"/>
          <p:cNvSpPr txBox="1"/>
          <p:nvPr/>
        </p:nvSpPr>
        <p:spPr>
          <a:xfrm>
            <a:off x="548640" y="822960"/>
            <a:ext cx="8046720" cy="1371600"/>
          </a:xfrm>
          <a:prstGeom prst="rect">
            <a:avLst/>
          </a:prstGeom>
          <a:noFill/>
          <a:ln/>
        </p:spPr>
        <p:txBody>
          <a:bodyPr wrap="square" lIns="0" tIns="0" rIns="0" bIns="0" rtlCol="0" anchor="t"/>
          <a:lstStyle/>
          <a:p>
            <a:pPr indent="0" marL="0">
              <a:buNone/>
            </a:pPr>
            <a:r>
              <a:rPr lang="en-US" sz="3600" b="1" dirty="0">
                <a:solidFill>
                  <a:srgbClr val="F4EFE4"/>
                </a:solidFill>
                <a:latin typeface="Arial" pitchFamily="34" charset="0"/>
                <a:ea typeface="Arial" pitchFamily="34" charset="-122"/>
                <a:cs typeface="Arial" pitchFamily="34" charset="-120"/>
              </a:rPr>
              <a:t>Autoricen hoy el piloto de </a:t>
            </a:r>
            <a:pPr indent="0" marL="0">
              <a:buNone/>
            </a:pPr>
            <a:r>
              <a:rPr lang="en-US" sz="3600" b="1" dirty="0">
                <a:solidFill>
                  <a:srgbClr val="F2A33A"/>
                </a:solidFill>
                <a:latin typeface="Arial" pitchFamily="34" charset="0"/>
                <a:ea typeface="Arial" pitchFamily="34" charset="-122"/>
                <a:cs typeface="Arial" pitchFamily="34" charset="-120"/>
              </a:rPr>
              <a:t>90 días.</a:t>
            </a:r>
            <a:endParaRPr lang="en-US" sz="3600" dirty="0"/>
          </a:p>
        </p:txBody>
      </p:sp>
      <p:sp>
        <p:nvSpPr>
          <p:cNvPr id="4" name="Text 1"/>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800" dirty="0">
                <a:solidFill>
                  <a:srgbClr val="A79F8D"/>
                </a:solidFill>
                <a:latin typeface="Arial" pitchFamily="34" charset="0"/>
                <a:ea typeface="Arial" pitchFamily="34" charset="-122"/>
                <a:cs typeface="Arial" pitchFamily="34" charset="-120"/>
              </a:rPr>
              <a:t>Meta: bajar al menos 30 % el tiempo en tareas repetitivas. Al día 90 decidimos con datos: ampliar o detener.</a:t>
            </a:r>
            <a:endParaRPr lang="en-US" sz="1800" dirty="0"/>
          </a:p>
        </p:txBody>
      </p:sp>
      <p:sp>
        <p:nvSpPr>
          <p:cNvPr id="5" name="Text 2"/>
          <p:cNvSpPr txBox="1"/>
          <p:nvPr/>
        </p:nvSpPr>
        <p:spPr>
          <a:xfrm>
            <a:off x="548640" y="3474720"/>
            <a:ext cx="8046720" cy="731520"/>
          </a:xfrm>
          <a:prstGeom prst="rect">
            <a:avLst/>
          </a:prstGeom>
          <a:noFill/>
          <a:ln/>
        </p:spPr>
        <p:txBody>
          <a:bodyPr wrap="square" lIns="0" tIns="0" rIns="0" bIns="0" rtlCol="0" anchor="t"/>
          <a:lstStyle/>
          <a:p>
            <a:pPr indent="0" marL="0">
              <a:buNone/>
            </a:pPr>
            <a:r>
              <a:rPr lang="en-US" sz="2600" b="1" dirty="0">
                <a:solidFill>
                  <a:srgbClr val="F4EFE4"/>
                </a:solidFill>
                <a:latin typeface="Arial" pitchFamily="34" charset="0"/>
                <a:ea typeface="Arial" pitchFamily="34" charset="-122"/>
                <a:cs typeface="Arial" pitchFamily="34" charset="-120"/>
              </a:rPr>
              <a:t>La IA llegó para quedarse. Elijamos aprender.</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90 días para que la IA acelere a nuestro equipo</dc:title>
  <dc:subject>PptxGenJS Presentation</dc:subject>
  <dc:creator>Roy Anthony Poma Aquino</dc:creator>
  <cp:lastModifiedBy>Roy Anthony Poma Aquino</cp:lastModifiedBy>
  <cp:revision>1</cp:revision>
  <dcterms:created xsi:type="dcterms:W3CDTF">2026-10-07T04:13:08Z</dcterms:created>
  <dcterms:modified xsi:type="dcterms:W3CDTF">2026-10-07T04:13:08Z</dcterms:modified>
</cp:coreProperties>
</file>